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12" r:id="rId6"/>
    <p:sldId id="313" r:id="rId7"/>
    <p:sldId id="314" r:id="rId8"/>
    <p:sldId id="315" r:id="rId9"/>
    <p:sldId id="301" r:id="rId10"/>
    <p:sldId id="302" r:id="rId11"/>
    <p:sldId id="303" r:id="rId12"/>
    <p:sldId id="304" r:id="rId13"/>
    <p:sldId id="305" r:id="rId14"/>
    <p:sldId id="316" r:id="rId15"/>
    <p:sldId id="307" r:id="rId16"/>
    <p:sldId id="310" r:id="rId17"/>
    <p:sldId id="285" r:id="rId18"/>
    <p:sldId id="286" r:id="rId19"/>
    <p:sldId id="287" r:id="rId20"/>
    <p:sldId id="311" r:id="rId21"/>
    <p:sldId id="288" r:id="rId22"/>
    <p:sldId id="289" r:id="rId23"/>
    <p:sldId id="290" r:id="rId24"/>
  </p:sldIdLst>
  <p:sldSz cx="9144000" cy="5143500" type="screen16x9"/>
  <p:notesSz cx="9144000" cy="5143500"/>
  <p:defaultTextStyle>
    <a:defPPr>
      <a:defRPr kern="0"/>
    </a:defPPr>
  </p:defaultTextStyle>
  <p:extLst>
    <p:ext uri="{EFAFB233-063F-42B5-8137-9DF3F51BA10A}">
      <p15:sldGuideLst xmlns="" xmlns:p15="http://schemas.microsoft.com/office/powerpoint/2012/main">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219200" y="514350"/>
            <a:ext cx="6629400" cy="1338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Introduction to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a:t>
                      </a:r>
                      <a:r>
                        <a:rPr lang="en-IN" altLang="en-US" sz="1200" dirty="0" smtClean="0">
                          <a:solidFill>
                            <a:srgbClr val="000000"/>
                          </a:solidFill>
                          <a:latin typeface="Times New Roman" panose="02020503050405090304" pitchFamily="18" charset="0"/>
                          <a:cs typeface="Times New Roman" panose="02020503050405090304" pitchFamily="18" charset="0"/>
                        </a:rPr>
                        <a:t>the</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fundamental </a:t>
                      </a:r>
                      <a:r>
                        <a:rPr lang="en-US" sz="1200" kern="1200" dirty="0" smtClean="0">
                          <a:solidFill>
                            <a:schemeClr val="dk1"/>
                          </a:solidFill>
                          <a:latin typeface="Times New Roman" panose="02020503050405090304" pitchFamily="18" charset="0"/>
                          <a:ea typeface="+mn-ea"/>
                          <a:cs typeface="Times New Roman" panose="02020503050405090304" pitchFamily="18" charset="0"/>
                        </a:rPr>
                        <a:t>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various </a:t>
                      </a:r>
                      <a:r>
                        <a:rPr lang="en-US" sz="1200" kern="1200" dirty="0" smtClean="0">
                          <a:solidFill>
                            <a:schemeClr val="dk1"/>
                          </a:solidFill>
                          <a:latin typeface="Times New Roman" panose="02020503050405090304" pitchFamily="18" charset="0"/>
                          <a:ea typeface="+mn-ea"/>
                          <a:cs typeface="Times New Roman" panose="02020503050405090304" pitchFamily="18" charset="0"/>
                        </a:rPr>
                        <a:t>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1514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Scaling Challenges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Load Balancing,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 SQL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NoSQL</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CAP Theorem, </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Eventual Consistency,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Microservices</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Monolithic Architecture.</a:t>
                      </a:r>
                      <a:endParaRPr kumimoji="0" lang="en-US" altLang="en-US" sz="1600" b="0"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38517" y="1200146"/>
            <a:ext cx="5187950" cy="3095078"/>
          </a:xfrm>
          <a:prstGeom prst="rect">
            <a:avLst/>
          </a:prstGeom>
        </p:spPr>
        <p:txBody>
          <a:bodyPr vert="horz" wrap="square" lIns="0" tIns="139065" rIns="0" bIns="0" rtlCol="0">
            <a:spAutoFit/>
          </a:bodyPr>
          <a:lstStyle/>
          <a:p>
            <a:pPr lvl="3" algn="just">
              <a:lnSpc>
                <a:spcPct val="150000"/>
              </a:lnSpc>
              <a:buFont typeface="Arial" pitchFamily="34" charset="0"/>
              <a:buChar char="•"/>
            </a:pPr>
            <a:r>
              <a:rPr lang="en-US" sz="1600" dirty="0">
                <a:solidFill>
                  <a:schemeClr val="tx1"/>
                </a:solidFill>
                <a:latin typeface="Times New Roman" panose="02020503050405090304" pitchFamily="18" charset="0"/>
                <a:cs typeface="Times New Roman" panose="02020503050405090304" pitchFamily="18" charset="0"/>
              </a:rPr>
              <a:t>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Architectures</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Key Benefits of a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How Do I Get Started with a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How to Decompose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Design the Individual Services Carefully</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Importance of Monolithic Systems</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Characteristics of Monolithic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Challenges in deploying Monolithic Architecture</a:t>
            </a:r>
            <a:endParaRPr lang="en-IN" sz="1600" dirty="0" smtClean="0">
              <a:solidFill>
                <a:schemeClr val="tx1"/>
              </a:solidFill>
              <a:latin typeface="Times New Roman" pitchFamily="18" charset="0"/>
              <a:cs typeface="Times New Roman"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Topic to</a:t>
            </a:r>
            <a:r>
              <a:rPr sz="2400" spc="-6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be</a:t>
            </a:r>
            <a:r>
              <a:rPr sz="2400" spc="2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Covered</a:t>
            </a:r>
            <a:endParaRPr lang="en-US" altLang="en-IN" sz="2400"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978535"/>
            <a:ext cx="7753985" cy="1733550"/>
          </a:xfrm>
          <a:prstGeom prst="rect">
            <a:avLst/>
          </a:prstGeom>
        </p:spPr>
        <p:txBody>
          <a:bodyPr vert="horz" wrap="square" lIns="0" tIns="10160" rIns="0" bIns="0" rtlCol="0">
            <a:spAutoFit/>
          </a:bodyPr>
          <a:lstStyle/>
          <a:p>
            <a:pPr>
              <a:lnSpc>
                <a:spcPct val="150000"/>
              </a:lnSpc>
            </a:pPr>
            <a:r>
              <a:rPr lang="en-US" sz="1600" b="1" dirty="0">
                <a:latin typeface="Times New Roman" panose="02020503050405090304" pitchFamily="18" charset="0"/>
                <a:cs typeface="Times New Roman" panose="02020503050405090304" pitchFamily="18" charset="0"/>
              </a:rPr>
              <a:t>Vertical Scaling (Scale Up):</a:t>
            </a:r>
            <a:r>
              <a:rPr lang="en-US" sz="1600" dirty="0">
                <a:latin typeface="Times New Roman" panose="02020503050405090304" pitchFamily="18" charset="0"/>
                <a:cs typeface="Times New Roman" panose="02020503050405090304" pitchFamily="18" charset="0"/>
              </a:rPr>
              <a:t> Adding more power (CPU, RAM) to your existing server. Simple, but has a hard ceiling (hardware limits).</a:t>
            </a:r>
          </a:p>
          <a:p>
            <a:pPr>
              <a:lnSpc>
                <a:spcPct val="150000"/>
              </a:lnSpc>
            </a:pPr>
            <a:r>
              <a:rPr lang="en-US" sz="1600" b="1" dirty="0">
                <a:latin typeface="Times New Roman" panose="02020503050405090304" pitchFamily="18" charset="0"/>
                <a:cs typeface="Times New Roman" panose="02020503050405090304" pitchFamily="18" charset="0"/>
              </a:rPr>
              <a:t>Horizontal Scaling (Scale Out):</a:t>
            </a:r>
            <a:r>
              <a:rPr lang="en-US" sz="1600" dirty="0">
                <a:latin typeface="Times New Roman" panose="02020503050405090304" pitchFamily="18" charset="0"/>
                <a:cs typeface="Times New Roman" panose="02020503050405090304" pitchFamily="18" charset="0"/>
              </a:rPr>
              <a:t> Adding more servers to your resource pool. Requires complex logic to distribute load but offers infinite theoretical scale.</a:t>
            </a:r>
          </a:p>
          <a:p>
            <a:endParaRPr lang="en-US" sz="1600" dirty="0">
              <a:latin typeface="Times New Roman" panose="02020503050405090304" pitchFamily="18" charset="0"/>
              <a:cs typeface="Times New Roman" panose="02020503050405090304" pitchFamily="18" charset="0"/>
            </a:endParaRPr>
          </a:p>
        </p:txBody>
      </p:sp>
      <p:pic>
        <p:nvPicPr>
          <p:cNvPr id="29698" name="Picture 2" descr="Diagram comparing vertical vs horizontal scaling architecture"/>
          <p:cNvPicPr>
            <a:picLocks noChangeAspect="1" noChangeArrowheads="1"/>
          </p:cNvPicPr>
          <p:nvPr/>
        </p:nvPicPr>
        <p:blipFill>
          <a:blip r:embed="rId2" cstate="print"/>
          <a:srcRect/>
          <a:stretch>
            <a:fillRect/>
          </a:stretch>
        </p:blipFill>
        <p:spPr bwMode="auto">
          <a:xfrm>
            <a:off x="1981200" y="2495550"/>
            <a:ext cx="4838065" cy="2438400"/>
          </a:xfrm>
          <a:prstGeom prst="rect">
            <a:avLst/>
          </a:prstGeom>
          <a:noFill/>
        </p:spPr>
      </p:pic>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anose="02020503050405090304" pitchFamily="18" charset="0"/>
                <a:cs typeface="Times New Roman" panose="02020503050405090304" pitchFamily="18" charset="0"/>
                <a:sym typeface="+mn-ea"/>
              </a:rPr>
              <a:t>Scaling Strategies</a:t>
            </a: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p:nvPr/>
        </p:nvSpPr>
        <p:spPr>
          <a:xfrm>
            <a:off x="909956" y="1047750"/>
            <a:ext cx="8234044" cy="1130300"/>
          </a:xfrm>
          <a:prstGeom prst="rect">
            <a:avLst/>
          </a:prstGeom>
        </p:spPr>
        <p:txBody>
          <a:bodyPr vert="horz" wrap="square" lIns="0" tIns="391795" rIns="0" bIns="0" rtlCol="0">
            <a:spAutoFit/>
          </a:bodyPr>
          <a:lstStyle/>
          <a:p>
            <a:pPr>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Latency: Time per request.</a:t>
            </a:r>
          </a:p>
          <a:p>
            <a:pPr>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Throughput: Requests per second</a:t>
            </a:r>
            <a:endParaRPr kumimoji="0" lang="en-US" sz="1600" b="1" i="0" u="none" strike="noStrike" kern="0" cap="none" spc="0" normalizeH="0" baseline="0" noProof="0" dirty="0">
              <a:ln>
                <a:noFill/>
              </a:ln>
              <a:solidFill>
                <a:srgbClr val="1A1A1A"/>
              </a:solidFill>
              <a:effectLst/>
              <a:uLnTx/>
              <a:uFillTx/>
              <a:latin typeface="Times New Roman" panose="02020503050405090304" pitchFamily="18" charset="0"/>
              <a:ea typeface="+mj-ea"/>
              <a:cs typeface="Times New Roman" panose="02020503050405090304"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anose="02020503050405090304" pitchFamily="18" charset="0"/>
                <a:cs typeface="Times New Roman" panose="02020503050405090304" pitchFamily="18" charset="0"/>
                <a:sym typeface="+mn-ea"/>
              </a:rPr>
              <a:t>Latency &amp; Throughput</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pic>
        <p:nvPicPr>
          <p:cNvPr id="4" name="Picture 3" descr="Screenshot 2025-12-03 at 10.14.24 AM"/>
          <p:cNvPicPr>
            <a:picLocks noChangeAspect="1"/>
          </p:cNvPicPr>
          <p:nvPr/>
        </p:nvPicPr>
        <p:blipFill>
          <a:blip r:embed="rId2" cstate="print"/>
          <a:stretch>
            <a:fillRect/>
          </a:stretch>
        </p:blipFill>
        <p:spPr>
          <a:xfrm>
            <a:off x="1216660" y="2571750"/>
            <a:ext cx="6692900" cy="2197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1365" y="1121410"/>
            <a:ext cx="4200525" cy="3559810"/>
          </a:xfrm>
          <a:prstGeom prst="rect">
            <a:avLst/>
          </a:prstGeom>
        </p:spPr>
        <p:txBody>
          <a:bodyPr vert="horz" wrap="square" lIns="0" tIns="12065" rIns="0" bIns="0" rtlCol="0">
            <a:noAutofit/>
          </a:bodyPr>
          <a:lstStyle/>
          <a:p>
            <a:pPr>
              <a:lnSpc>
                <a:spcPct val="150000"/>
              </a:lnSpc>
              <a:buFont typeface="Arial" pitchFamily="34" charset="0"/>
              <a:buChar char="•"/>
            </a:pPr>
            <a:r>
              <a:rPr lang="en-US" sz="1600" b="1" dirty="0" smtClean="0">
                <a:latin typeface="Times New Roman" panose="02020503050405090304" pitchFamily="18" charset="0"/>
                <a:cs typeface="Times New Roman" panose="02020503050405090304" pitchFamily="18" charset="0"/>
              </a:rPr>
              <a:t>  </a:t>
            </a:r>
            <a:r>
              <a:rPr lang="en-US" sz="1600" b="1" dirty="0">
                <a:latin typeface="Times New Roman" panose="02020503050405090304" pitchFamily="18" charset="0"/>
                <a:cs typeface="Times New Roman" panose="02020503050405090304" pitchFamily="18" charset="0"/>
              </a:rPr>
              <a:t>Monolithic:</a:t>
            </a:r>
            <a:r>
              <a:rPr lang="en-US" sz="1600" dirty="0">
                <a:latin typeface="Times New Roman" panose="02020503050405090304" pitchFamily="18" charset="0"/>
                <a:cs typeface="Times New Roman" panose="02020503050405090304" pitchFamily="18" charset="0"/>
              </a:rPr>
              <a:t> A single codebase where all components are tightly coupled. Easy to develop initially, hard to scale</a:t>
            </a:r>
            <a:r>
              <a:rPr lang="en-US" sz="1600" dirty="0" smtClean="0">
                <a:latin typeface="Times New Roman" panose="02020503050405090304" pitchFamily="18" charset="0"/>
                <a:cs typeface="Times New Roman" panose="02020503050405090304" pitchFamily="18" charset="0"/>
              </a:rPr>
              <a:t>.</a:t>
            </a:r>
          </a:p>
          <a:p>
            <a:pPr>
              <a:lnSpc>
                <a:spcPct val="150000"/>
              </a:lnSpc>
              <a:buFont typeface="Arial" pitchFamily="34" charset="0"/>
              <a:buChar char="•"/>
            </a:pPr>
            <a:endParaRPr lang="en-US" sz="1600" dirty="0">
              <a:latin typeface="Times New Roman" panose="02020503050405090304" pitchFamily="18" charset="0"/>
              <a:cs typeface="Times New Roman" panose="02020503050405090304" pitchFamily="18" charset="0"/>
            </a:endParaRPr>
          </a:p>
          <a:p>
            <a:pPr>
              <a:lnSpc>
                <a:spcPct val="150000"/>
              </a:lnSpc>
              <a:buFont typeface="Arial" pitchFamily="34" charset="0"/>
              <a:buChar char="•"/>
            </a:pPr>
            <a:r>
              <a:rPr lang="en-US" sz="1600" b="1" dirty="0">
                <a:latin typeface="Times New Roman" panose="02020503050405090304" pitchFamily="18" charset="0"/>
                <a:cs typeface="Times New Roman" panose="02020503050405090304" pitchFamily="18" charset="0"/>
              </a:rPr>
              <a:t> </a:t>
            </a:r>
            <a:r>
              <a:rPr lang="en-US" sz="1600" b="1" dirty="0" smtClean="0">
                <a:latin typeface="Times New Roman" panose="02020503050405090304" pitchFamily="18" charset="0"/>
                <a:cs typeface="Times New Roman" panose="02020503050405090304" pitchFamily="18" charset="0"/>
              </a:rPr>
              <a:t> </a:t>
            </a:r>
            <a:r>
              <a:rPr lang="en-US" sz="1600" b="1" dirty="0" err="1" smtClean="0">
                <a:latin typeface="Times New Roman" panose="02020503050405090304" pitchFamily="18" charset="0"/>
                <a:cs typeface="Times New Roman" panose="02020503050405090304" pitchFamily="18" charset="0"/>
              </a:rPr>
              <a:t>Microservices</a:t>
            </a:r>
            <a:r>
              <a:rPr lang="en-US" sz="1600" b="1" dirty="0">
                <a:latin typeface="Times New Roman" panose="02020503050405090304" pitchFamily="18" charset="0"/>
                <a:cs typeface="Times New Roman" panose="02020503050405090304" pitchFamily="18" charset="0"/>
              </a:rPr>
              <a:t>:</a:t>
            </a:r>
            <a:r>
              <a:rPr lang="en-US" sz="1600" dirty="0">
                <a:latin typeface="Times New Roman" panose="02020503050405090304" pitchFamily="18" charset="0"/>
                <a:cs typeface="Times New Roman" panose="02020503050405090304" pitchFamily="18" charset="0"/>
              </a:rPr>
              <a:t> A collection of loosely coupled services. Each service runs independently and communicates via </a:t>
            </a:r>
            <a:r>
              <a:rPr lang="en-US" sz="1600" dirty="0" smtClean="0">
                <a:latin typeface="Times New Roman" panose="02020503050405090304" pitchFamily="18" charset="0"/>
                <a:cs typeface="Times New Roman" panose="02020503050405090304" pitchFamily="18" charset="0"/>
              </a:rPr>
              <a:t>API.</a:t>
            </a:r>
          </a:p>
          <a:p>
            <a:pPr>
              <a:lnSpc>
                <a:spcPct val="150000"/>
              </a:lnSpc>
              <a:buFont typeface="Arial" pitchFamily="34" charset="0"/>
              <a:buChar char="•"/>
            </a:pPr>
            <a:r>
              <a:rPr lang="en-US" sz="1600" dirty="0" smtClean="0">
                <a:latin typeface="Times New Roman" panose="02020503050405090304" pitchFamily="18" charset="0"/>
                <a:cs typeface="Times New Roman" panose="02020503050405090304" pitchFamily="18" charset="0"/>
              </a:rPr>
              <a:t>  Allows </a:t>
            </a:r>
            <a:r>
              <a:rPr lang="en-US" sz="1600" dirty="0">
                <a:latin typeface="Times New Roman" panose="02020503050405090304" pitchFamily="18" charset="0"/>
                <a:cs typeface="Times New Roman" panose="02020503050405090304" pitchFamily="18" charset="0"/>
              </a:rPr>
              <a:t>independent scaling and deployment.</a:t>
            </a:r>
          </a:p>
          <a:p>
            <a:pPr>
              <a:lnSpc>
                <a:spcPct val="150000"/>
              </a:lnSpc>
              <a:buFont typeface="Arial" pitchFamily="34" charset="0"/>
              <a:buChar char="•"/>
            </a:pPr>
            <a:r>
              <a:rPr lang="en-US" sz="1600" dirty="0">
                <a:latin typeface="Times New Roman" panose="02020503050405090304" pitchFamily="18" charset="0"/>
                <a:cs typeface="Times New Roman" panose="02020503050405090304" pitchFamily="18" charset="0"/>
              </a:rPr>
              <a:t> </a:t>
            </a:r>
            <a:r>
              <a:rPr lang="en-US" sz="1600" dirty="0" smtClean="0">
                <a:latin typeface="Times New Roman" panose="02020503050405090304" pitchFamily="18" charset="0"/>
                <a:cs typeface="Times New Roman" panose="02020503050405090304" pitchFamily="18" charset="0"/>
              </a:rPr>
              <a:t> Increases </a:t>
            </a:r>
            <a:r>
              <a:rPr lang="en-US" sz="1600" dirty="0">
                <a:latin typeface="Times New Roman" panose="02020503050405090304" pitchFamily="18" charset="0"/>
                <a:cs typeface="Times New Roman" panose="02020503050405090304" pitchFamily="18" charset="0"/>
              </a:rPr>
              <a:t>operational complexity.</a:t>
            </a:r>
          </a:p>
        </p:txBody>
      </p:sp>
      <p:pic>
        <p:nvPicPr>
          <p:cNvPr id="5" name="Picture 2" descr="Diagram of a load balancer distributing traffic to multiple servers"/>
          <p:cNvPicPr>
            <a:picLocks noChangeAspect="1" noChangeArrowheads="1"/>
          </p:cNvPicPr>
          <p:nvPr/>
        </p:nvPicPr>
        <p:blipFill>
          <a:blip r:embed="rId2" cstate="print"/>
          <a:stretch>
            <a:fillRect/>
          </a:stretch>
        </p:blipFill>
        <p:spPr bwMode="auto">
          <a:xfrm>
            <a:off x="4536000" y="-10388249"/>
            <a:ext cx="2360815" cy="1022465"/>
          </a:xfrm>
          <a:prstGeom prst="rect">
            <a:avLst/>
          </a:prstGeom>
          <a:noFill/>
        </p:spPr>
      </p:pic>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US" sz="2400" dirty="0" smtClean="0">
                <a:latin typeface="Times New Roman" panose="02020503050405090304" pitchFamily="18" charset="0"/>
                <a:cs typeface="Times New Roman" panose="02020503050405090304" pitchFamily="18" charset="0"/>
                <a:sym typeface="+mn-ea"/>
              </a:rPr>
              <a:t>Architecture Patterns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pic>
        <p:nvPicPr>
          <p:cNvPr id="7" name="Picture 2" descr="Diagram contrasting monolithic vs microservices architecture"/>
          <p:cNvPicPr>
            <a:picLocks noChangeAspect="1" noChangeArrowheads="1"/>
          </p:cNvPicPr>
          <p:nvPr/>
        </p:nvPicPr>
        <p:blipFill>
          <a:blip r:embed="rId3" cstate="print"/>
          <a:srcRect/>
          <a:stretch>
            <a:fillRect/>
          </a:stretch>
        </p:blipFill>
        <p:spPr bwMode="auto">
          <a:xfrm>
            <a:off x="4953000" y="1200150"/>
            <a:ext cx="3581400" cy="32766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How can a System </a:t>
            </a:r>
            <a:r>
              <a:rPr lang="en-IN" sz="2400" dirty="0" smtClean="0">
                <a:latin typeface="Times New Roman" pitchFamily="18" charset="0"/>
                <a:cs typeface="Times New Roman" pitchFamily="18" charset="0"/>
              </a:rPr>
              <a:t>Grow(Con..)</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descr="How can a System Grow"/>
          <p:cNvPicPr/>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http://schemas.microsoft.com/office/word/2010/wordprocessingShape" xmlns:wpi="http://schemas.microsoft.com/office/word/2010/wordprocessingInk" xmlns:wpg="http://schemas.microsoft.com/office/word/2010/wordprocessingGroup" xmlns:w16se="http://schemas.microsoft.com/office/word/2015/wordml/symex" xmlns:w16sdtfl="http://schemas.microsoft.com/office/word/2024/wordml/sdtformatlock" xmlns:w16sdtdh="http://schemas.microsoft.com/office/word/2020/wordml/sdtdatahash" xmlns:w16du="http://schemas.microsoft.com/office/word/2023/wordml/word16du"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14="http://schemas.microsoft.com/office/word/2010/wordprocessingDrawing" xmlns:v="urn:schemas-microsoft-com:vml"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xmlns:pic="http://schemas.openxmlformats.org/drawingml/2006/picture" xmlns:lc="http://schemas.openxmlformats.org/drawingml/2006/lockedCanvas" val="0"/>
              </a:ext>
            </a:extLst>
          </a:blip>
          <a:srcRect/>
          <a:stretch>
            <a:fillRect/>
          </a:stretch>
        </p:blipFill>
        <p:spPr bwMode="auto">
          <a:xfrm>
            <a:off x="1371600" y="1047750"/>
            <a:ext cx="6629400" cy="35058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505200"/>
          </a:xfrm>
          <a:prstGeom prst="rect">
            <a:avLst/>
          </a:prstGeom>
        </p:spPr>
        <p:txBody>
          <a:bodyPr vert="horz" wrap="square" lIns="0" tIns="9525" rIns="0" bIns="0" rtlCol="0">
            <a:noAutofit/>
          </a:bodyPr>
          <a:lstStyle/>
          <a:p>
            <a:pPr marL="342900" indent="-342900" algn="just">
              <a:buFont typeface="+mj-lt"/>
              <a:buAutoNum type="arabicPeriod"/>
            </a:pPr>
            <a:r>
              <a:rPr lang="en-IN" sz="1400" b="1" dirty="0" smtClean="0">
                <a:latin typeface="Times New Roman" pitchFamily="18" charset="0"/>
                <a:cs typeface="Times New Roman" pitchFamily="18" charset="0"/>
              </a:rPr>
              <a:t> </a:t>
            </a:r>
            <a:r>
              <a:rPr lang="en-IN" sz="1400" b="1" dirty="0">
                <a:latin typeface="Times New Roman" pitchFamily="18" charset="0"/>
                <a:cs typeface="Times New Roman" pitchFamily="18" charset="0"/>
              </a:rPr>
              <a:t>Growth in User Base</a:t>
            </a:r>
            <a:endParaRPr lang="en-US" sz="1400" dirty="0">
              <a:latin typeface="Times New Roman" pitchFamily="18" charset="0"/>
              <a:cs typeface="Times New Roman" pitchFamily="18" charset="0"/>
            </a:endParaRPr>
          </a:p>
          <a:p>
            <a:pPr marL="342900" indent="-342900" algn="just"/>
            <a:r>
              <a:rPr lang="en-IN" sz="1400" dirty="0">
                <a:latin typeface="Times New Roman" pitchFamily="18" charset="0"/>
                <a:cs typeface="Times New Roman" pitchFamily="18" charset="0"/>
              </a:rPr>
              <a:t>More users started using the system, leading to increased number of requests.</a:t>
            </a:r>
            <a:endParaRPr lang="en-US" sz="1400" dirty="0">
              <a:latin typeface="Times New Roman" pitchFamily="18" charset="0"/>
              <a:cs typeface="Times New Roman" pitchFamily="18" charset="0"/>
            </a:endParaRPr>
          </a:p>
          <a:p>
            <a:pPr marL="342900" lvl="0" indent="-342900" algn="just"/>
            <a:r>
              <a:rPr lang="en-IN" sz="1400" b="1" dirty="0">
                <a:latin typeface="Times New Roman" pitchFamily="18" charset="0"/>
                <a:cs typeface="Times New Roman" pitchFamily="18" charset="0"/>
              </a:rPr>
              <a:t>Example:</a:t>
            </a:r>
            <a:r>
              <a:rPr lang="en-IN" sz="1400" dirty="0">
                <a:latin typeface="Times New Roman" pitchFamily="18" charset="0"/>
                <a:cs typeface="Times New Roman" pitchFamily="18" charset="0"/>
              </a:rPr>
              <a:t> A social media platform experiencing a surge in new users.</a:t>
            </a:r>
            <a:endParaRPr lang="en-US" sz="1400" dirty="0">
              <a:latin typeface="Times New Roman" pitchFamily="18" charset="0"/>
              <a:cs typeface="Times New Roman" pitchFamily="18" charset="0"/>
            </a:endParaRPr>
          </a:p>
          <a:p>
            <a:pPr marL="342900" indent="-342900" algn="just"/>
            <a:r>
              <a:rPr lang="en-IN" sz="1400" b="1" dirty="0">
                <a:latin typeface="Times New Roman" pitchFamily="18" charset="0"/>
                <a:cs typeface="Times New Roman" pitchFamily="18" charset="0"/>
              </a:rPr>
              <a:t>2. Growth in Features</a:t>
            </a:r>
            <a:endParaRPr lang="en-US" sz="1400" dirty="0">
              <a:latin typeface="Times New Roman" pitchFamily="18" charset="0"/>
              <a:cs typeface="Times New Roman" pitchFamily="18" charset="0"/>
            </a:endParaRPr>
          </a:p>
          <a:p>
            <a:pPr marL="342900" indent="-342900" algn="just"/>
            <a:r>
              <a:rPr lang="en-IN" sz="1400" dirty="0">
                <a:latin typeface="Times New Roman" pitchFamily="18" charset="0"/>
                <a:cs typeface="Times New Roman" pitchFamily="18" charset="0"/>
              </a:rPr>
              <a:t>More features were introduced to expand the system's capabilities.</a:t>
            </a:r>
            <a:endParaRPr lang="en-US" sz="1400" dirty="0">
              <a:latin typeface="Times New Roman" pitchFamily="18" charset="0"/>
              <a:cs typeface="Times New Roman" pitchFamily="18" charset="0"/>
            </a:endParaRPr>
          </a:p>
          <a:p>
            <a:pPr marL="342900" lvl="0" indent="-342900" algn="just"/>
            <a:r>
              <a:rPr lang="en-IN" sz="1400" b="1" dirty="0">
                <a:latin typeface="Times New Roman" pitchFamily="18" charset="0"/>
                <a:cs typeface="Times New Roman" pitchFamily="18" charset="0"/>
              </a:rPr>
              <a:t>Example:</a:t>
            </a:r>
            <a:r>
              <a:rPr lang="en-IN" sz="1400" dirty="0">
                <a:latin typeface="Times New Roman" pitchFamily="18" charset="0"/>
                <a:cs typeface="Times New Roman" pitchFamily="18" charset="0"/>
              </a:rPr>
              <a:t> An e-commerce website adding support for a new payment method.</a:t>
            </a:r>
            <a:endParaRPr lang="en-US" sz="1400" dirty="0">
              <a:latin typeface="Times New Roman" pitchFamily="18" charset="0"/>
              <a:cs typeface="Times New Roman" pitchFamily="18" charset="0"/>
            </a:endParaRPr>
          </a:p>
          <a:p>
            <a:pPr marL="342900" indent="-342900" algn="just"/>
            <a:r>
              <a:rPr lang="en-IN" sz="1400" b="1" dirty="0">
                <a:latin typeface="Times New Roman" pitchFamily="18" charset="0"/>
                <a:cs typeface="Times New Roman" pitchFamily="18" charset="0"/>
              </a:rPr>
              <a:t>3. Growth in Data Volume</a:t>
            </a:r>
            <a:endParaRPr lang="en-US" sz="1400" dirty="0">
              <a:latin typeface="Times New Roman" pitchFamily="18" charset="0"/>
              <a:cs typeface="Times New Roman" pitchFamily="18" charset="0"/>
            </a:endParaRPr>
          </a:p>
          <a:p>
            <a:pPr marL="342900" indent="-342900" algn="just"/>
            <a:r>
              <a:rPr lang="en-IN" sz="1400" dirty="0">
                <a:latin typeface="Times New Roman" pitchFamily="18" charset="0"/>
                <a:cs typeface="Times New Roman" pitchFamily="18" charset="0"/>
              </a:rPr>
              <a:t>Growth in the amount of data the system stores and manages due to user activity or logging.</a:t>
            </a:r>
            <a:endParaRPr lang="en-US" sz="1400" dirty="0">
              <a:latin typeface="Times New Roman" pitchFamily="18" charset="0"/>
              <a:cs typeface="Times New Roman" pitchFamily="18" charset="0"/>
            </a:endParaRPr>
          </a:p>
          <a:p>
            <a:pPr marL="342900" lvl="0" indent="-342900" algn="just"/>
            <a:r>
              <a:rPr lang="en-IN" sz="1400" b="1" dirty="0">
                <a:latin typeface="Times New Roman" pitchFamily="18" charset="0"/>
                <a:cs typeface="Times New Roman" pitchFamily="18" charset="0"/>
              </a:rPr>
              <a:t>Example:</a:t>
            </a:r>
            <a:r>
              <a:rPr lang="en-IN" sz="1400" dirty="0">
                <a:latin typeface="Times New Roman" pitchFamily="18" charset="0"/>
                <a:cs typeface="Times New Roman" pitchFamily="18" charset="0"/>
              </a:rPr>
              <a:t> A video streaming platform like </a:t>
            </a:r>
            <a:r>
              <a:rPr lang="en-IN" sz="1400" dirty="0" err="1">
                <a:latin typeface="Times New Roman" pitchFamily="18" charset="0"/>
                <a:cs typeface="Times New Roman" pitchFamily="18" charset="0"/>
              </a:rPr>
              <a:t>youtube</a:t>
            </a:r>
            <a:r>
              <a:rPr lang="en-IN" sz="1400" dirty="0">
                <a:latin typeface="Times New Roman" pitchFamily="18" charset="0"/>
                <a:cs typeface="Times New Roman" pitchFamily="18" charset="0"/>
              </a:rPr>
              <a:t> storing more video content over time.</a:t>
            </a:r>
            <a:endParaRPr lang="en-US" sz="1400" dirty="0">
              <a:latin typeface="Times New Roman" pitchFamily="18" charset="0"/>
              <a:cs typeface="Times New Roman" pitchFamily="18" charset="0"/>
            </a:endParaRPr>
          </a:p>
          <a:p>
            <a:pPr marL="342900" indent="-342900" algn="just"/>
            <a:r>
              <a:rPr lang="en-IN" sz="1400" b="1" dirty="0">
                <a:latin typeface="Times New Roman" pitchFamily="18" charset="0"/>
                <a:cs typeface="Times New Roman" pitchFamily="18" charset="0"/>
              </a:rPr>
              <a:t>4. Growth in Complexity</a:t>
            </a:r>
            <a:endParaRPr lang="en-US" sz="1400" dirty="0">
              <a:latin typeface="Times New Roman" pitchFamily="18" charset="0"/>
              <a:cs typeface="Times New Roman" pitchFamily="18" charset="0"/>
            </a:endParaRPr>
          </a:p>
          <a:p>
            <a:pPr marL="342900" indent="-342900" algn="just"/>
            <a:r>
              <a:rPr lang="en-IN" sz="1400" dirty="0">
                <a:latin typeface="Times New Roman" pitchFamily="18" charset="0"/>
                <a:cs typeface="Times New Roman" pitchFamily="18" charset="0"/>
              </a:rPr>
              <a:t>The system's architecture evolves to accommodate new features, scale, or integrations, resulting in additional components and dependencies.</a:t>
            </a:r>
            <a:endParaRPr lang="en-US" sz="1400" dirty="0">
              <a:latin typeface="Times New Roman" pitchFamily="18" charset="0"/>
              <a:cs typeface="Times New Roman" pitchFamily="18" charset="0"/>
            </a:endParaRPr>
          </a:p>
          <a:p>
            <a:pPr marL="342900" lvl="0" indent="-342900" algn="just"/>
            <a:r>
              <a:rPr lang="en-IN" sz="1400" b="1" dirty="0">
                <a:latin typeface="Times New Roman" pitchFamily="18" charset="0"/>
                <a:cs typeface="Times New Roman" pitchFamily="18" charset="0"/>
              </a:rPr>
              <a:t>Example:</a:t>
            </a:r>
            <a:r>
              <a:rPr lang="en-IN" sz="1400" dirty="0">
                <a:latin typeface="Times New Roman" pitchFamily="18" charset="0"/>
                <a:cs typeface="Times New Roman" pitchFamily="18" charset="0"/>
              </a:rPr>
              <a:t> A system that started as a simple application is broken into smaller, independent systems.</a:t>
            </a:r>
            <a:endParaRPr lang="en-US" sz="1400" dirty="0">
              <a:latin typeface="Times New Roman" pitchFamily="18" charset="0"/>
              <a:cs typeface="Times New Roman" pitchFamily="18" charset="0"/>
            </a:endParaRPr>
          </a:p>
          <a:p>
            <a:pPr marL="342900" indent="-342900" algn="just"/>
            <a:r>
              <a:rPr lang="en-IN" sz="1400" b="1" dirty="0">
                <a:latin typeface="Times New Roman" pitchFamily="18" charset="0"/>
                <a:cs typeface="Times New Roman" pitchFamily="18" charset="0"/>
              </a:rPr>
              <a:t>5. Growth in Geographic Reach</a:t>
            </a:r>
            <a:endParaRPr lang="en-US" sz="1400" dirty="0">
              <a:latin typeface="Times New Roman" pitchFamily="18" charset="0"/>
              <a:cs typeface="Times New Roman" pitchFamily="18" charset="0"/>
            </a:endParaRPr>
          </a:p>
          <a:p>
            <a:pPr marL="342900" indent="-342900" algn="just"/>
            <a:r>
              <a:rPr lang="en-IN" sz="1400" dirty="0">
                <a:latin typeface="Times New Roman" pitchFamily="18" charset="0"/>
                <a:cs typeface="Times New Roman" pitchFamily="18" charset="0"/>
              </a:rPr>
              <a:t>The system is expanded to serve users in new regions or countries.</a:t>
            </a:r>
            <a:endParaRPr lang="en-US" sz="1400" dirty="0">
              <a:latin typeface="Times New Roman" pitchFamily="18" charset="0"/>
              <a:cs typeface="Times New Roman" pitchFamily="18" charset="0"/>
            </a:endParaRPr>
          </a:p>
          <a:p>
            <a:pPr marL="342900" indent="-342900" algn="just"/>
            <a:r>
              <a:rPr lang="en-IN" sz="1400" b="1" dirty="0">
                <a:latin typeface="Times New Roman" pitchFamily="18" charset="0"/>
                <a:cs typeface="Times New Roman" pitchFamily="18" charset="0"/>
              </a:rPr>
              <a:t>Example:</a:t>
            </a:r>
            <a:r>
              <a:rPr lang="en-IN" sz="1400" dirty="0">
                <a:latin typeface="Times New Roman" pitchFamily="18" charset="0"/>
                <a:cs typeface="Times New Roman" pitchFamily="18" charset="0"/>
              </a:rPr>
              <a:t> An e-commerce company launching websites and distribution in new international markets.</a:t>
            </a:r>
            <a:endParaRPr lang="en-US" sz="14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How can a System Grow?</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15199" cy="3733800"/>
          </a:xfrm>
          <a:prstGeom prst="rect">
            <a:avLst/>
          </a:prstGeom>
        </p:spPr>
        <p:txBody>
          <a:bodyPr vert="horz" wrap="square" lIns="0" tIns="9525" rIns="0" bIns="0" rtlCol="0">
            <a:noAutofit/>
          </a:bodyPr>
          <a:lstStyle/>
          <a:p>
            <a:pPr algn="just">
              <a:buFont typeface="Arial" pitchFamily="34" charset="0"/>
              <a:buChar char="•"/>
            </a:pPr>
            <a:r>
              <a:rPr lang="en-IN" sz="1600" dirty="0" smtClean="0">
                <a:latin typeface="Times New Roman" pitchFamily="18" charset="0"/>
                <a:cs typeface="Times New Roman" pitchFamily="18" charset="0"/>
              </a:rPr>
              <a:t> Vertical </a:t>
            </a:r>
            <a:r>
              <a:rPr lang="en-IN" sz="1600" dirty="0">
                <a:latin typeface="Times New Roman" pitchFamily="18" charset="0"/>
                <a:cs typeface="Times New Roman" pitchFamily="18" charset="0"/>
              </a:rPr>
              <a:t>scaling, also known as scaling up, refers to the process of increasing the capacity or capabilities of an individual hardware or software component within a system.</a:t>
            </a:r>
            <a:endParaRPr lang="en-US" sz="1600" dirty="0">
              <a:latin typeface="Times New Roman" pitchFamily="18" charset="0"/>
              <a:cs typeface="Times New Roman" pitchFamily="18" charset="0"/>
            </a:endParaRPr>
          </a:p>
          <a:p>
            <a:pPr lvl="0" algn="just">
              <a:buFont typeface="Arial" pitchFamily="34" charset="0"/>
              <a:buChar char="•"/>
            </a:pPr>
            <a:r>
              <a:rPr lang="en-IN" sz="1600" dirty="0" smtClean="0">
                <a:latin typeface="Times New Roman" pitchFamily="18" charset="0"/>
                <a:cs typeface="Times New Roman" pitchFamily="18" charset="0"/>
              </a:rPr>
              <a:t> We </a:t>
            </a:r>
            <a:r>
              <a:rPr lang="en-IN" sz="1600" dirty="0">
                <a:latin typeface="Times New Roman" pitchFamily="18" charset="0"/>
                <a:cs typeface="Times New Roman" pitchFamily="18" charset="0"/>
              </a:rPr>
              <a:t>upgrade the same system rather than adding more systems. Add more power to your machine by adding better processors, increasing RAM, or other power-increasing adjustments.</a:t>
            </a:r>
            <a:endParaRPr lang="en-US" sz="1600" dirty="0">
              <a:latin typeface="Times New Roman" pitchFamily="18" charset="0"/>
              <a:cs typeface="Times New Roman" pitchFamily="18" charset="0"/>
            </a:endParaRPr>
          </a:p>
          <a:p>
            <a:pPr lvl="0" algn="just">
              <a:buFont typeface="Arial" pitchFamily="34" charset="0"/>
              <a:buChar char="•"/>
            </a:pPr>
            <a:r>
              <a:rPr lang="en-IN" sz="1600" dirty="0" smtClean="0">
                <a:latin typeface="Times New Roman" pitchFamily="18" charset="0"/>
                <a:cs typeface="Times New Roman" pitchFamily="18" charset="0"/>
              </a:rPr>
              <a:t> Simple </a:t>
            </a:r>
            <a:r>
              <a:rPr lang="en-IN" sz="1600" dirty="0">
                <a:latin typeface="Times New Roman" pitchFamily="18" charset="0"/>
                <a:cs typeface="Times New Roman" pitchFamily="18" charset="0"/>
              </a:rPr>
              <a:t>to implement and useful for monolithic and small scale applications</a:t>
            </a:r>
            <a:r>
              <a:rPr lang="en-IN" sz="1600" dirty="0" smtClean="0">
                <a:latin typeface="Times New Roman" pitchFamily="18" charset="0"/>
                <a:cs typeface="Times New Roman" pitchFamily="18" charset="0"/>
              </a:rPr>
              <a:t>.</a:t>
            </a:r>
          </a:p>
          <a:p>
            <a:pPr lvl="0" algn="just">
              <a:buFont typeface="Arial" pitchFamily="34" charset="0"/>
              <a:buChar char="•"/>
            </a:pPr>
            <a:endParaRPr lang="en-IN" sz="1600" dirty="0">
              <a:latin typeface="Times New Roman" pitchFamily="18" charset="0"/>
              <a:cs typeface="Times New Roman" pitchFamily="18" charset="0"/>
            </a:endParaRPr>
          </a:p>
          <a:p>
            <a:pPr algn="just"/>
            <a:r>
              <a:rPr lang="en-IN" sz="1600" b="1" dirty="0">
                <a:latin typeface="Times New Roman" pitchFamily="18" charset="0"/>
                <a:cs typeface="Times New Roman" pitchFamily="18" charset="0"/>
              </a:rPr>
              <a:t>Examples</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Upgrading a </a:t>
            </a:r>
            <a:r>
              <a:rPr lang="en-IN" sz="1600" dirty="0" err="1">
                <a:latin typeface="Times New Roman" pitchFamily="18" charset="0"/>
                <a:cs typeface="Times New Roman" pitchFamily="18" charset="0"/>
              </a:rPr>
              <a:t>MySQL</a:t>
            </a:r>
            <a:r>
              <a:rPr lang="en-IN" sz="1600" dirty="0">
                <a:latin typeface="Times New Roman" pitchFamily="18" charset="0"/>
                <a:cs typeface="Times New Roman" pitchFamily="18" charset="0"/>
              </a:rPr>
              <a:t> server from 16 GB RAM to 64 GB to handle more queries.</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Moving a website hosted on a 2-core VM to an 8-core, higher-RAM VM to improve performance.</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E-commerce platform running on a single large AWS EC2 instance with increased resources (CPU, RAM, disk).</a:t>
            </a:r>
            <a:endParaRPr lang="en-US" sz="1600" dirty="0">
              <a:latin typeface="Times New Roman" pitchFamily="18" charset="0"/>
              <a:cs typeface="Times New Roman" pitchFamily="18" charset="0"/>
            </a:endParaRPr>
          </a:p>
          <a:p>
            <a:pPr lvl="0" algn="just">
              <a:buFont typeface="Arial" pitchFamily="34" charset="0"/>
              <a:buChar char="•"/>
            </a:pP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Vertical </a:t>
            </a:r>
            <a:r>
              <a:rPr lang="en-IN" sz="2400" dirty="0" smtClean="0">
                <a:latin typeface="Times New Roman" pitchFamily="18" charset="0"/>
                <a:cs typeface="Times New Roman" pitchFamily="18" charset="0"/>
              </a:rPr>
              <a:t>Scaling</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8077199" cy="3124200"/>
          </a:xfrm>
          <a:prstGeom prst="rect">
            <a:avLst/>
          </a:prstGeom>
        </p:spPr>
        <p:txBody>
          <a:bodyPr vert="horz" wrap="square" lIns="0" tIns="9525" rIns="0" bIns="0" rtlCol="0">
            <a:noAutofit/>
          </a:bodyPr>
          <a:lstStyle/>
          <a:p>
            <a:pPr algn="just">
              <a:buFont typeface="Wingdings" pitchFamily="2" charset="2"/>
              <a:buChar char="Ø"/>
            </a:pPr>
            <a:r>
              <a:rPr lang="en-IN" sz="1600" b="1" dirty="0" smtClean="0">
                <a:latin typeface="Times New Roman" pitchFamily="18" charset="0"/>
                <a:cs typeface="Times New Roman" pitchFamily="18" charset="0"/>
              </a:rPr>
              <a:t> Advantages</a:t>
            </a:r>
            <a:endParaRPr lang="en-US" sz="1600" dirty="0">
              <a:latin typeface="Times New Roman" pitchFamily="18" charset="0"/>
              <a:cs typeface="Times New Roman" pitchFamily="18" charset="0"/>
            </a:endParaRPr>
          </a:p>
          <a:p>
            <a:pPr lvl="0" algn="just"/>
            <a:r>
              <a:rPr lang="en-IN" sz="1600" b="1" dirty="0">
                <a:latin typeface="Times New Roman" pitchFamily="18" charset="0"/>
                <a:cs typeface="Times New Roman" pitchFamily="18" charset="0"/>
              </a:rPr>
              <a:t>Increased capacity:</a:t>
            </a:r>
            <a:r>
              <a:rPr lang="en-IN" sz="1600" dirty="0">
                <a:latin typeface="Times New Roman" pitchFamily="18" charset="0"/>
                <a:cs typeface="Times New Roman" pitchFamily="18" charset="0"/>
              </a:rPr>
              <a:t> A server's performance and ability to manage incoming requests can both be enhanced by upgrading its hardware.</a:t>
            </a:r>
            <a:endParaRPr lang="en-US" sz="1600" dirty="0">
              <a:latin typeface="Times New Roman" pitchFamily="18" charset="0"/>
              <a:cs typeface="Times New Roman" pitchFamily="18" charset="0"/>
            </a:endParaRPr>
          </a:p>
          <a:p>
            <a:pPr lvl="0" algn="just"/>
            <a:r>
              <a:rPr lang="en-IN" sz="1600" b="1" dirty="0">
                <a:latin typeface="Times New Roman" pitchFamily="18" charset="0"/>
                <a:cs typeface="Times New Roman" pitchFamily="18" charset="0"/>
              </a:rPr>
              <a:t>Easier management:</a:t>
            </a:r>
            <a:r>
              <a:rPr lang="en-IN" sz="1600" dirty="0">
                <a:latin typeface="Times New Roman" pitchFamily="18" charset="0"/>
                <a:cs typeface="Times New Roman" pitchFamily="18" charset="0"/>
              </a:rPr>
              <a:t> Upgrading a single node is usually the focus of vertical scaling, which might be simpler than maintaining several nodes</a:t>
            </a:r>
            <a:r>
              <a:rPr lang="en-IN" sz="1600" dirty="0" smtClean="0">
                <a:latin typeface="Times New Roman" pitchFamily="18" charset="0"/>
                <a:cs typeface="Times New Roman" pitchFamily="18" charset="0"/>
              </a:rPr>
              <a:t>.</a:t>
            </a:r>
          </a:p>
          <a:p>
            <a:pPr lvl="0" algn="just"/>
            <a:endParaRPr lang="en-IN" sz="1600" dirty="0">
              <a:latin typeface="Times New Roman" pitchFamily="18" charset="0"/>
              <a:cs typeface="Times New Roman" pitchFamily="18" charset="0"/>
            </a:endParaRPr>
          </a:p>
          <a:p>
            <a:pPr algn="just">
              <a:buFont typeface="Wingdings" pitchFamily="2" charset="2"/>
              <a:buChar char="Ø"/>
            </a:pPr>
            <a:r>
              <a:rPr lang="en-IN" sz="1600" b="1" dirty="0" smtClean="0">
                <a:latin typeface="Times New Roman" pitchFamily="18" charset="0"/>
                <a:cs typeface="Times New Roman" pitchFamily="18" charset="0"/>
              </a:rPr>
              <a:t> Disadvantages</a:t>
            </a:r>
            <a:endParaRPr lang="en-US" sz="1600" dirty="0">
              <a:latin typeface="Times New Roman" pitchFamily="18" charset="0"/>
              <a:cs typeface="Times New Roman" pitchFamily="18" charset="0"/>
            </a:endParaRPr>
          </a:p>
          <a:p>
            <a:pPr lvl="0" algn="just"/>
            <a:r>
              <a:rPr lang="en-IN" sz="1600" b="1" dirty="0">
                <a:latin typeface="Times New Roman" pitchFamily="18" charset="0"/>
                <a:cs typeface="Times New Roman" pitchFamily="18" charset="0"/>
              </a:rPr>
              <a:t>Limited scalability</a:t>
            </a:r>
            <a:r>
              <a:rPr lang="en-IN" sz="1600" dirty="0">
                <a:latin typeface="Times New Roman" pitchFamily="18" charset="0"/>
                <a:cs typeface="Times New Roman" pitchFamily="18" charset="0"/>
              </a:rPr>
              <a:t>: Vertical scaling is constrained by the hardware's physical limitations. Horizontal Scaling is not limited.</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One server still receives all incoming requests thus increasing the possibility of downtime in the event of a server failure.</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Scaling up often requires </a:t>
            </a:r>
            <a:r>
              <a:rPr lang="en-IN" sz="1600" b="1" dirty="0">
                <a:latin typeface="Times New Roman" pitchFamily="18" charset="0"/>
                <a:cs typeface="Times New Roman" pitchFamily="18" charset="0"/>
              </a:rPr>
              <a:t>restarting or replacing</a:t>
            </a:r>
            <a:r>
              <a:rPr lang="en-IN" sz="1600" dirty="0">
                <a:latin typeface="Times New Roman" pitchFamily="18" charset="0"/>
                <a:cs typeface="Times New Roman" pitchFamily="18" charset="0"/>
              </a:rPr>
              <a:t> the machine, causing downtime.</a:t>
            </a:r>
            <a:endParaRPr lang="en-US" sz="1600" dirty="0">
              <a:latin typeface="Times New Roman" pitchFamily="18" charset="0"/>
              <a:cs typeface="Times New Roman" pitchFamily="18" charset="0"/>
            </a:endParaRPr>
          </a:p>
          <a:p>
            <a:pPr lvl="0" algn="just"/>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t>Advantages and Disadvantages</a:t>
            </a:r>
            <a:r>
              <a:rPr lang="en-US" sz="2400" dirty="0" smtClean="0">
                <a:latin typeface="Times New Roman" pitchFamily="18" charset="0"/>
                <a:cs typeface="Times New Roman" pitchFamily="18" charset="0"/>
              </a:rPr>
              <a:t> of </a:t>
            </a:r>
            <a:r>
              <a:rPr lang="en-IN" sz="2400" dirty="0" smtClean="0">
                <a:latin typeface="Times New Roman" pitchFamily="18" charset="0"/>
                <a:cs typeface="Times New Roman" pitchFamily="18" charset="0"/>
              </a:rPr>
              <a:t>Vertical Scaling</a:t>
            </a: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696199" cy="3276600"/>
          </a:xfrm>
          <a:prstGeom prst="rect">
            <a:avLst/>
          </a:prstGeom>
        </p:spPr>
        <p:txBody>
          <a:bodyPr vert="horz" wrap="square" lIns="0" tIns="9525" rIns="0" bIns="0" rtlCol="0">
            <a:noAutofit/>
          </a:bodyPr>
          <a:lstStyle/>
          <a:p>
            <a:pPr algn="just"/>
            <a:r>
              <a:rPr lang="en-IN" sz="1600" dirty="0">
                <a:latin typeface="Times New Roman" pitchFamily="18" charset="0"/>
                <a:cs typeface="Times New Roman" pitchFamily="18" charset="0"/>
              </a:rPr>
              <a:t>Horizontal scaling, also known as scaling out, refers to the process of increasing the capacity or performance of a system by adding more machines or servers to distribute the workload across a larger number of individual units.</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There is no need to change the capacity of the server or replace the server.</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There is no downtime while adding more servers to the network.</a:t>
            </a:r>
            <a:endParaRPr lang="en-US" sz="1600" dirty="0">
              <a:latin typeface="Times New Roman" pitchFamily="18" charset="0"/>
              <a:cs typeface="Times New Roman" pitchFamily="18" charset="0"/>
            </a:endParaRPr>
          </a:p>
          <a:p>
            <a:pPr algn="just"/>
            <a:r>
              <a:rPr lang="en-IN" sz="16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algn="just"/>
            <a:r>
              <a:rPr lang="en-IN" sz="1600" b="1" dirty="0">
                <a:latin typeface="Times New Roman" pitchFamily="18" charset="0"/>
                <a:cs typeface="Times New Roman" pitchFamily="18" charset="0"/>
              </a:rPr>
              <a:t>Examples</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A website like </a:t>
            </a:r>
            <a:r>
              <a:rPr lang="en-IN" sz="1600" dirty="0" err="1">
                <a:latin typeface="Times New Roman" pitchFamily="18" charset="0"/>
                <a:cs typeface="Times New Roman" pitchFamily="18" charset="0"/>
              </a:rPr>
              <a:t>GeeksforGeeks</a:t>
            </a:r>
            <a:r>
              <a:rPr lang="en-IN" sz="1600" dirty="0">
                <a:latin typeface="Times New Roman" pitchFamily="18" charset="0"/>
                <a:cs typeface="Times New Roman" pitchFamily="18" charset="0"/>
              </a:rPr>
              <a:t> adds more web servers behind a load balancer to handle traffic spikes.</a:t>
            </a:r>
            <a:endParaRPr lang="en-US" sz="1600" dirty="0">
              <a:latin typeface="Times New Roman" pitchFamily="18" charset="0"/>
              <a:cs typeface="Times New Roman" pitchFamily="18" charset="0"/>
            </a:endParaRPr>
          </a:p>
          <a:p>
            <a:pPr lvl="0" algn="just"/>
            <a:r>
              <a:rPr lang="en-IN" sz="1600" dirty="0">
                <a:latin typeface="Times New Roman" pitchFamily="18" charset="0"/>
                <a:cs typeface="Times New Roman" pitchFamily="18" charset="0"/>
              </a:rPr>
              <a:t>Netflix scales different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independently — e.g., multiple instances of the streaming service across regions.</a:t>
            </a:r>
            <a:endParaRPr lang="en-US" sz="1600" dirty="0">
              <a:latin typeface="Times New Roman" pitchFamily="18" charset="0"/>
              <a:cs typeface="Times New Roman" pitchFamily="18" charset="0"/>
            </a:endParaRPr>
          </a:p>
          <a:p>
            <a:pPr algn="just"/>
            <a:r>
              <a:rPr lang="en-IN" sz="1600" dirty="0">
                <a:latin typeface="Times New Roman" pitchFamily="18" charset="0"/>
                <a:cs typeface="Times New Roman" pitchFamily="18" charset="0"/>
              </a:rPr>
              <a:t>Amazon Auto Scaling spins up more EC2 instances during peak shopping hours (e.g., Black Friday).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Horizontal Scaling</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8077199" cy="3124200"/>
          </a:xfrm>
          <a:prstGeom prst="rect">
            <a:avLst/>
          </a:prstGeom>
        </p:spPr>
        <p:txBody>
          <a:bodyPr vert="horz" wrap="square" lIns="0" tIns="9525" rIns="0" bIns="0" rtlCol="0">
            <a:noAutofit/>
          </a:bodyPr>
          <a:lstStyle/>
          <a:p>
            <a:r>
              <a:rPr lang="en-IN" sz="1600" b="1" dirty="0">
                <a:solidFill>
                  <a:schemeClr val="tx1"/>
                </a:solidFill>
                <a:latin typeface="Times New Roman" pitchFamily="18" charset="0"/>
                <a:cs typeface="Times New Roman" pitchFamily="18" charset="0"/>
              </a:rPr>
              <a:t>Advantages</a:t>
            </a:r>
            <a:endParaRPr lang="en-US" sz="1600" dirty="0">
              <a:solidFill>
                <a:schemeClr val="tx1"/>
              </a:solidFill>
              <a:latin typeface="Times New Roman" pitchFamily="18" charset="0"/>
              <a:cs typeface="Times New Roman" pitchFamily="18" charset="0"/>
            </a:endParaRPr>
          </a:p>
          <a:p>
            <a:pPr lvl="0"/>
            <a:r>
              <a:rPr lang="en-IN" sz="1600" b="1" dirty="0">
                <a:solidFill>
                  <a:schemeClr val="tx1"/>
                </a:solidFill>
                <a:latin typeface="Times New Roman" pitchFamily="18" charset="0"/>
                <a:cs typeface="Times New Roman" pitchFamily="18" charset="0"/>
              </a:rPr>
              <a:t>Increased capacity: </a:t>
            </a:r>
            <a:r>
              <a:rPr lang="en-IN" sz="1600" dirty="0">
                <a:solidFill>
                  <a:schemeClr val="tx1"/>
                </a:solidFill>
                <a:latin typeface="Times New Roman" pitchFamily="18" charset="0"/>
                <a:cs typeface="Times New Roman" pitchFamily="18" charset="0"/>
              </a:rPr>
              <a:t>More nodes or instances can handle a larger number of incoming requests.</a:t>
            </a:r>
            <a:endParaRPr lang="en-US" sz="1600" dirty="0">
              <a:solidFill>
                <a:schemeClr val="tx1"/>
              </a:solidFill>
              <a:latin typeface="Times New Roman" pitchFamily="18" charset="0"/>
              <a:cs typeface="Times New Roman" pitchFamily="18" charset="0"/>
            </a:endParaRPr>
          </a:p>
          <a:p>
            <a:pPr lvl="0"/>
            <a:r>
              <a:rPr lang="en-IN" sz="1600" b="1" dirty="0">
                <a:solidFill>
                  <a:schemeClr val="tx1"/>
                </a:solidFill>
                <a:latin typeface="Times New Roman" pitchFamily="18" charset="0"/>
                <a:cs typeface="Times New Roman" pitchFamily="18" charset="0"/>
              </a:rPr>
              <a:t>Improved performance: </a:t>
            </a:r>
            <a:r>
              <a:rPr lang="en-IN" sz="1600" dirty="0">
                <a:solidFill>
                  <a:schemeClr val="tx1"/>
                </a:solidFill>
                <a:latin typeface="Times New Roman" pitchFamily="18" charset="0"/>
                <a:cs typeface="Times New Roman" pitchFamily="18" charset="0"/>
              </a:rPr>
              <a:t>By distributing the load over several nodes or instances, it is less likely that any one server will get overloaded.</a:t>
            </a:r>
            <a:endParaRPr lang="en-US" sz="1600" dirty="0">
              <a:solidFill>
                <a:schemeClr val="tx1"/>
              </a:solidFill>
              <a:latin typeface="Times New Roman" pitchFamily="18" charset="0"/>
              <a:cs typeface="Times New Roman" pitchFamily="18" charset="0"/>
            </a:endParaRPr>
          </a:p>
          <a:p>
            <a:pPr lvl="0"/>
            <a:r>
              <a:rPr lang="en-IN" sz="1600" b="1" dirty="0">
                <a:solidFill>
                  <a:schemeClr val="tx1"/>
                </a:solidFill>
                <a:latin typeface="Times New Roman" pitchFamily="18" charset="0"/>
                <a:cs typeface="Times New Roman" pitchFamily="18" charset="0"/>
              </a:rPr>
              <a:t>Increased </a:t>
            </a:r>
            <a:r>
              <a:rPr lang="en-IN" sz="1600" b="1" dirty="0" smtClean="0">
                <a:solidFill>
                  <a:schemeClr val="tx1"/>
                </a:solidFill>
                <a:latin typeface="Times New Roman" pitchFamily="18" charset="0"/>
                <a:cs typeface="Times New Roman" pitchFamily="18" charset="0"/>
              </a:rPr>
              <a:t>faul</a:t>
            </a:r>
            <a:r>
              <a:rPr lang="en-IN" sz="1600" b="1" dirty="0" smtClean="0">
                <a:solidFill>
                  <a:schemeClr val="tx1"/>
                </a:solidFill>
                <a:latin typeface="Times New Roman" pitchFamily="18" charset="0"/>
                <a:cs typeface="Times New Roman" pitchFamily="18" charset="0"/>
              </a:rPr>
              <a:t>t tolerance</a:t>
            </a:r>
            <a:r>
              <a:rPr lang="en-IN" sz="1600" b="1" dirty="0" smtClean="0">
                <a:solidFill>
                  <a:schemeClr val="tx1"/>
                </a:solidFill>
                <a:latin typeface="Times New Roman" pitchFamily="18" charset="0"/>
                <a:cs typeface="Times New Roman" pitchFamily="18" charset="0"/>
              </a:rPr>
              <a:t>:</a:t>
            </a:r>
            <a:r>
              <a:rPr lang="en-IN" sz="1600" dirty="0">
                <a:solidFill>
                  <a:schemeClr val="tx1"/>
                </a:solidFill>
                <a:latin typeface="Times New Roman" pitchFamily="18" charset="0"/>
                <a:cs typeface="Times New Roman" pitchFamily="18" charset="0"/>
              </a:rPr>
              <a:t> Incoming requests can be sent to another node in the event of a node failure, lowering the possibility of downtime.</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t>Advantages </a:t>
            </a:r>
            <a:r>
              <a:rPr lang="en-US" sz="2400" dirty="0" smtClean="0">
                <a:latin typeface="Times New Roman" pitchFamily="18" charset="0"/>
                <a:cs typeface="Times New Roman" pitchFamily="18" charset="0"/>
              </a:rPr>
              <a:t>of </a:t>
            </a:r>
            <a:r>
              <a:rPr lang="en-IN" sz="2400" dirty="0" smtClean="0">
                <a:latin typeface="Times New Roman" pitchFamily="18" charset="0"/>
                <a:cs typeface="Times New Roman" pitchFamily="18" charset="0"/>
              </a:rPr>
              <a:t>Horizontal Scaling</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599" cy="3810000"/>
          </a:xfrm>
          <a:prstGeom prst="rect">
            <a:avLst/>
          </a:prstGeom>
        </p:spPr>
        <p:txBody>
          <a:bodyPr vert="horz" wrap="square" lIns="0" tIns="9525" rIns="0" bIns="0" rtlCol="0">
            <a:noAutofit/>
          </a:bodyPr>
          <a:lstStyle/>
          <a:p>
            <a:pPr lvl="0" algn="just">
              <a:buFont typeface="Arial" pitchFamily="34" charset="0"/>
              <a:buChar char="•"/>
            </a:pPr>
            <a:r>
              <a:rPr lang="en-IN" sz="1600" b="1" dirty="0">
                <a:latin typeface="Times New Roman" pitchFamily="18" charset="0"/>
                <a:cs typeface="Times New Roman" pitchFamily="18" charset="0"/>
              </a:rPr>
              <a:t>Google</a:t>
            </a:r>
            <a:r>
              <a:rPr lang="en-IN" sz="1600" dirty="0">
                <a:latin typeface="Times New Roman" pitchFamily="18" charset="0"/>
                <a:cs typeface="Times New Roman" pitchFamily="18" charset="0"/>
              </a:rPr>
              <a:t>: Google's infrastructure is highly scalable, allowing it to handle billions of search queries and serve millions of users worldwide. Google uses a distributed system architecture and technologies like </a:t>
            </a:r>
            <a:r>
              <a:rPr lang="en-IN" sz="1600" dirty="0" err="1">
                <a:latin typeface="Times New Roman" pitchFamily="18" charset="0"/>
                <a:cs typeface="Times New Roman" pitchFamily="18" charset="0"/>
              </a:rPr>
              <a:t>Bigtable</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MapReduce</a:t>
            </a:r>
            <a:r>
              <a:rPr lang="en-IN" sz="1600" dirty="0">
                <a:latin typeface="Times New Roman" pitchFamily="18" charset="0"/>
                <a:cs typeface="Times New Roman" pitchFamily="18" charset="0"/>
              </a:rPr>
              <a:t>, and Spanner to achieve scalability</a:t>
            </a:r>
            <a:r>
              <a:rPr lang="en-IN" sz="1600" dirty="0" smtClean="0">
                <a:latin typeface="Times New Roman" pitchFamily="18" charset="0"/>
                <a:cs typeface="Times New Roman" pitchFamily="18" charset="0"/>
              </a:rPr>
              <a:t>.</a:t>
            </a:r>
          </a:p>
          <a:p>
            <a:pPr lvl="0" algn="just">
              <a:buFont typeface="Arial" pitchFamily="34" charset="0"/>
              <a:buChar char="•"/>
            </a:pPr>
            <a:endParaRPr lang="en-US" sz="1600" dirty="0">
              <a:latin typeface="Times New Roman" pitchFamily="18" charset="0"/>
              <a:cs typeface="Times New Roman" pitchFamily="18" charset="0"/>
            </a:endParaRPr>
          </a:p>
          <a:p>
            <a:pPr lvl="0" algn="just">
              <a:buFont typeface="Arial" pitchFamily="34" charset="0"/>
              <a:buChar char="•"/>
            </a:pPr>
            <a:r>
              <a:rPr lang="en-IN" sz="1600" b="1" dirty="0">
                <a:latin typeface="Times New Roman" pitchFamily="18" charset="0"/>
                <a:cs typeface="Times New Roman" pitchFamily="18" charset="0"/>
              </a:rPr>
              <a:t>Amazon Web Services (AWS)</a:t>
            </a:r>
            <a:r>
              <a:rPr lang="en-IN" sz="1600" dirty="0">
                <a:latin typeface="Times New Roman" pitchFamily="18" charset="0"/>
                <a:cs typeface="Times New Roman" pitchFamily="18" charset="0"/>
              </a:rPr>
              <a:t>: AWS provides a wide range of scalable cloud computing services, including computing power, storage, and databases. AWS's scalable infrastructure allows businesses to quickly scale resources up or down based on demand</a:t>
            </a:r>
            <a:r>
              <a:rPr lang="en-IN" sz="1600" dirty="0" smtClean="0">
                <a:latin typeface="Times New Roman" pitchFamily="18" charset="0"/>
                <a:cs typeface="Times New Roman" pitchFamily="18" charset="0"/>
              </a:rPr>
              <a:t>.</a:t>
            </a:r>
          </a:p>
          <a:p>
            <a:pPr lvl="0" algn="just">
              <a:buFont typeface="Arial" pitchFamily="34" charset="0"/>
              <a:buChar char="•"/>
            </a:pPr>
            <a:endParaRPr lang="en-US" sz="1600" dirty="0">
              <a:latin typeface="Times New Roman" pitchFamily="18" charset="0"/>
              <a:cs typeface="Times New Roman" pitchFamily="18" charset="0"/>
            </a:endParaRPr>
          </a:p>
          <a:p>
            <a:pPr lvl="0" algn="just">
              <a:buFont typeface="Arial" pitchFamily="34" charset="0"/>
              <a:buChar char="•"/>
            </a:pPr>
            <a:r>
              <a:rPr lang="en-IN" sz="1600" b="1" dirty="0">
                <a:latin typeface="Times New Roman" pitchFamily="18" charset="0"/>
                <a:cs typeface="Times New Roman" pitchFamily="18" charset="0"/>
              </a:rPr>
              <a:t>Netflix</a:t>
            </a:r>
            <a:r>
              <a:rPr lang="en-IN" sz="1600" dirty="0">
                <a:latin typeface="Times New Roman" pitchFamily="18" charset="0"/>
                <a:cs typeface="Times New Roman" pitchFamily="18" charset="0"/>
              </a:rPr>
              <a:t>: Netflix's streaming service is built on a highly scalable architecture that allows it to deliver high-quality video content to millions of users simultaneously. Netflix uses a combination </a:t>
            </a:r>
            <a:r>
              <a:rPr lang="en-IN" sz="1600" dirty="0" smtClean="0">
                <a:latin typeface="Times New Roman" pitchFamily="18" charset="0"/>
                <a:cs typeface="Times New Roman" pitchFamily="18" charset="0"/>
              </a:rPr>
              <a:t>of caching, </a:t>
            </a:r>
            <a:r>
              <a:rPr lang="en-IN" sz="1600" dirty="0">
                <a:latin typeface="Times New Roman" pitchFamily="18" charset="0"/>
                <a:cs typeface="Times New Roman" pitchFamily="18" charset="0"/>
              </a:rPr>
              <a:t>and cloud computing to achieve scalability.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Real-World Examples of Scalable Systems</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91400" cy="3733800"/>
          </a:xfrm>
          <a:prstGeom prst="rect">
            <a:avLst/>
          </a:prstGeom>
        </p:spPr>
        <p:txBody>
          <a:bodyPr vert="horz" wrap="square" lIns="0" tIns="9525" rIns="0" bIns="0" rtlCol="0">
            <a:noAutofit/>
          </a:bodyPr>
          <a:lstStyle/>
          <a:p>
            <a:pPr lvl="0" algn="just">
              <a:buFont typeface="Arial" pitchFamily="34" charset="0"/>
              <a:buChar char="•"/>
            </a:pPr>
            <a:r>
              <a:rPr lang="en-IN" sz="1600" b="1" dirty="0" smtClean="0">
                <a:latin typeface="Times New Roman" pitchFamily="18" charset="0"/>
                <a:cs typeface="Times New Roman" pitchFamily="18" charset="0"/>
              </a:rPr>
              <a:t> Cost </a:t>
            </a:r>
            <a:r>
              <a:rPr lang="en-IN" sz="1600" b="1" dirty="0">
                <a:latin typeface="Times New Roman" pitchFamily="18" charset="0"/>
                <a:cs typeface="Times New Roman" pitchFamily="18" charset="0"/>
              </a:rPr>
              <a:t>vs. Scalability</a:t>
            </a:r>
            <a:r>
              <a:rPr lang="en-IN" sz="1600" dirty="0">
                <a:latin typeface="Times New Roman" pitchFamily="18" charset="0"/>
                <a:cs typeface="Times New Roman" pitchFamily="18" charset="0"/>
              </a:rPr>
              <a:t>: Adding extra resources is a common step in system scaling, which might raise expenses. A trade-off exists between the advantages of increased performance and availability and the expense of scaling</a:t>
            </a:r>
            <a:r>
              <a:rPr lang="en-IN" sz="1600" dirty="0" smtClean="0">
                <a:latin typeface="Times New Roman" pitchFamily="18" charset="0"/>
                <a:cs typeface="Times New Roman" pitchFamily="18" charset="0"/>
              </a:rPr>
              <a:t>.</a:t>
            </a:r>
          </a:p>
          <a:p>
            <a:pPr lvl="0" algn="just">
              <a:buFont typeface="Arial" pitchFamily="34" charset="0"/>
              <a:buChar char="•"/>
            </a:pP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Complexity</a:t>
            </a:r>
            <a:r>
              <a:rPr lang="en-IN" sz="1600" dirty="0">
                <a:latin typeface="Times New Roman" pitchFamily="18" charset="0"/>
                <a:cs typeface="Times New Roman" pitchFamily="18" charset="0"/>
              </a:rPr>
              <a:t>: Systems typically get more complex as they grow in size. Because of its complexity, the system may be more difficult to maintain and debug, which could result in higher operating cost</a:t>
            </a:r>
            <a:r>
              <a:rPr lang="en-IN" sz="1600" dirty="0" smtClean="0">
                <a:latin typeface="Times New Roman" pitchFamily="18" charset="0"/>
                <a:cs typeface="Times New Roman" pitchFamily="18" charset="0"/>
              </a:rPr>
              <a:t>.</a:t>
            </a:r>
          </a:p>
          <a:p>
            <a:pPr lvl="0" algn="just">
              <a:buFont typeface="Arial" pitchFamily="34" charset="0"/>
              <a:buChar char="•"/>
            </a:pP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Latency </a:t>
            </a:r>
            <a:r>
              <a:rPr lang="en-IN" sz="1600" b="1" dirty="0">
                <a:latin typeface="Times New Roman" pitchFamily="18" charset="0"/>
                <a:cs typeface="Times New Roman" pitchFamily="18" charset="0"/>
              </a:rPr>
              <a:t>vs. Throughput</a:t>
            </a:r>
            <a:r>
              <a:rPr lang="en-IN" sz="1600" dirty="0">
                <a:latin typeface="Times New Roman" pitchFamily="18" charset="0"/>
                <a:cs typeface="Times New Roman" pitchFamily="18" charset="0"/>
              </a:rPr>
              <a:t>: There is often a trade-off </a:t>
            </a:r>
            <a:r>
              <a:rPr lang="en-IN" sz="1600" dirty="0" smtClean="0">
                <a:latin typeface="Times New Roman" pitchFamily="18" charset="0"/>
                <a:cs typeface="Times New Roman" pitchFamily="18" charset="0"/>
              </a:rPr>
              <a:t>between </a:t>
            </a:r>
            <a:r>
              <a:rPr lang="en-IN" sz="1600" dirty="0" smtClean="0">
                <a:latin typeface="Times New Roman" pitchFamily="18" charset="0"/>
                <a:cs typeface="Times New Roman" pitchFamily="18" charset="0"/>
              </a:rPr>
              <a:t>Latency vs. Throughput .</a:t>
            </a:r>
            <a:r>
              <a:rPr lang="en-IN" sz="1600" dirty="0" smtClean="0">
                <a:latin typeface="Times New Roman" pitchFamily="18" charset="0"/>
                <a:cs typeface="Times New Roman" pitchFamily="18" charset="0"/>
              </a:rPr>
              <a:t> </a:t>
            </a:r>
            <a:r>
              <a:rPr lang="en-IN" sz="1600" dirty="0">
                <a:latin typeface="Times New Roman" pitchFamily="18" charset="0"/>
                <a:cs typeface="Times New Roman" pitchFamily="18" charset="0"/>
              </a:rPr>
              <a:t>Optimizing for low latency may reduce throughput, and vice versa</a:t>
            </a:r>
            <a:r>
              <a:rPr lang="en-IN" sz="1600" dirty="0" smtClean="0">
                <a:latin typeface="Times New Roman" pitchFamily="18" charset="0"/>
                <a:cs typeface="Times New Roman" pitchFamily="18" charset="0"/>
              </a:rPr>
              <a:t>.</a:t>
            </a:r>
          </a:p>
          <a:p>
            <a:pPr lvl="0" algn="just">
              <a:buFont typeface="Arial" pitchFamily="34" charset="0"/>
              <a:buChar char="•"/>
            </a:pP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Data </a:t>
            </a:r>
            <a:r>
              <a:rPr lang="en-IN" sz="1600" b="1" dirty="0">
                <a:latin typeface="Times New Roman" pitchFamily="18" charset="0"/>
                <a:cs typeface="Times New Roman" pitchFamily="18" charset="0"/>
              </a:rPr>
              <a:t>Partitioning Trade-offs</a:t>
            </a:r>
            <a:r>
              <a:rPr lang="en-IN" sz="1600" dirty="0">
                <a:latin typeface="Times New Roman" pitchFamily="18" charset="0"/>
                <a:cs typeface="Times New Roman" pitchFamily="18" charset="0"/>
              </a:rPr>
              <a:t>: </a:t>
            </a:r>
            <a:r>
              <a:rPr lang="en-IN" sz="1600" b="1" dirty="0" smtClean="0">
                <a:latin typeface="Times New Roman" pitchFamily="18" charset="0"/>
                <a:cs typeface="Times New Roman" pitchFamily="18" charset="0"/>
              </a:rPr>
              <a:t> </a:t>
            </a:r>
            <a:r>
              <a:rPr lang="en-IN" sz="1600" dirty="0" smtClean="0">
                <a:latin typeface="Times New Roman" pitchFamily="18" charset="0"/>
                <a:cs typeface="Times New Roman" pitchFamily="18" charset="0"/>
              </a:rPr>
              <a:t>Partitioning </a:t>
            </a:r>
            <a:r>
              <a:rPr lang="en-IN" sz="1600" dirty="0" smtClean="0">
                <a:latin typeface="Times New Roman" pitchFamily="18" charset="0"/>
                <a:cs typeface="Times New Roman" pitchFamily="18" charset="0"/>
              </a:rPr>
              <a:t>data </a:t>
            </a:r>
            <a:r>
              <a:rPr lang="en-IN" sz="1600" dirty="0">
                <a:latin typeface="Times New Roman" pitchFamily="18" charset="0"/>
                <a:cs typeface="Times New Roman" pitchFamily="18" charset="0"/>
              </a:rPr>
              <a:t>can improve scalability by distributing it across multiple nodes. However, choosing the right partitioning strategy involves trade-offs, such as balancing the size of partitions, minimizing data movement, and ensuring data locality.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Challenges and Trade-offs in Scalability</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906780"/>
            <a:ext cx="7790180" cy="4027170"/>
          </a:xfrm>
          <a:prstGeom prst="rect">
            <a:avLst/>
          </a:prstGeom>
        </p:spPr>
        <p:txBody>
          <a:bodyPr vert="horz" wrap="square" lIns="0" tIns="15875" rIns="0" bIns="0" rtlCol="0">
            <a:noAutofit/>
          </a:bodyPr>
          <a:lstStyle/>
          <a:p>
            <a:pPr>
              <a:buFont typeface="Arial" pitchFamily="34" charset="0"/>
              <a:buChar char="•"/>
            </a:pPr>
            <a:r>
              <a:rPr lang="en-US" sz="1600" b="1" dirty="0" smtClean="0">
                <a:latin typeface="Times New Roman" pitchFamily="18" charset="0"/>
                <a:cs typeface="Times New Roman" pitchFamily="18" charset="0"/>
              </a:rPr>
              <a:t>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Scaling refers to the ability of a system to handle increased load (users, data, or requests) without degrading performance.</a:t>
            </a:r>
          </a:p>
          <a:p>
            <a:pPr>
              <a:buFont typeface="Arial" pitchFamily="34" charset="0"/>
              <a:buChar char="•"/>
            </a:pPr>
            <a:r>
              <a:rPr lang="en-US" sz="1600" b="1" dirty="0" smtClean="0">
                <a:latin typeface="Times New Roman" pitchFamily="18" charset="0"/>
                <a:cs typeface="Times New Roman" pitchFamily="18" charset="0"/>
              </a:rPr>
              <a:t> Types of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b="1" dirty="0" smtClean="0">
                <a:latin typeface="Times New Roman" pitchFamily="18" charset="0"/>
                <a:cs typeface="Times New Roman" pitchFamily="18" charset="0"/>
              </a:rPr>
              <a:t>Vertical Scaling (Scale Up)</a:t>
            </a:r>
            <a:r>
              <a:rPr lang="en-US" sz="1600" dirty="0" smtClean="0">
                <a:latin typeface="Times New Roman" pitchFamily="18" charset="0"/>
                <a:cs typeface="Times New Roman" pitchFamily="18" charset="0"/>
              </a:rPr>
              <a:t> increases resources of a single machine (CPU, RAM), while </a:t>
            </a:r>
            <a:r>
              <a:rPr lang="en-US" sz="1600" b="1" dirty="0" smtClean="0">
                <a:latin typeface="Times New Roman" pitchFamily="18" charset="0"/>
                <a:cs typeface="Times New Roman" pitchFamily="18" charset="0"/>
              </a:rPr>
              <a:t>Horizontal Scaling (Scale Out)</a:t>
            </a:r>
            <a:r>
              <a:rPr lang="en-US" sz="1600" dirty="0" smtClean="0">
                <a:latin typeface="Times New Roman" pitchFamily="18" charset="0"/>
                <a:cs typeface="Times New Roman" pitchFamily="18" charset="0"/>
              </a:rPr>
              <a:t> adds more machines to distribute the load.</a:t>
            </a:r>
          </a:p>
          <a:p>
            <a:pPr>
              <a:buFont typeface="Arial" pitchFamily="34" charset="0"/>
              <a:buChar char="•"/>
            </a:pPr>
            <a:r>
              <a:rPr lang="en-US" sz="1600" b="1" dirty="0" smtClean="0">
                <a:latin typeface="Times New Roman" pitchFamily="18" charset="0"/>
                <a:cs typeface="Times New Roman" pitchFamily="18" charset="0"/>
              </a:rPr>
              <a:t> Importance of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Scaling ensures high performance, availability, and reliability as application demand grows.</a:t>
            </a:r>
          </a:p>
          <a:p>
            <a:pPr>
              <a:buFont typeface="Arial" pitchFamily="34" charset="0"/>
              <a:buChar char="•"/>
            </a:pPr>
            <a:r>
              <a:rPr lang="en-US" sz="1600" b="1" dirty="0" smtClean="0">
                <a:latin typeface="Times New Roman" pitchFamily="18" charset="0"/>
                <a:cs typeface="Times New Roman" pitchFamily="18" charset="0"/>
              </a:rPr>
              <a:t> Common Scaling Techniques: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Load balancing, caching, database replication, </a:t>
            </a:r>
            <a:r>
              <a:rPr lang="en-US" sz="1600" dirty="0" err="1" smtClean="0">
                <a:latin typeface="Times New Roman" pitchFamily="18" charset="0"/>
                <a:cs typeface="Times New Roman" pitchFamily="18" charset="0"/>
              </a:rPr>
              <a:t>sharding</a:t>
            </a:r>
            <a:r>
              <a:rPr lang="en-US" sz="1600" dirty="0" smtClean="0">
                <a:latin typeface="Times New Roman" pitchFamily="18" charset="0"/>
                <a:cs typeface="Times New Roman" pitchFamily="18" charset="0"/>
              </a:rPr>
              <a:t>, and asynchronous processing are used to improve scalability.</a:t>
            </a:r>
          </a:p>
          <a:p>
            <a:pPr>
              <a:buFont typeface="Arial" pitchFamily="34" charset="0"/>
              <a:buChar char="•"/>
            </a:pPr>
            <a:r>
              <a:rPr lang="en-US" sz="1600" b="1" dirty="0" smtClean="0">
                <a:latin typeface="Times New Roman" pitchFamily="18" charset="0"/>
                <a:cs typeface="Times New Roman" pitchFamily="18" charset="0"/>
              </a:rPr>
              <a:t> Challenges in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Data consistency, increased system complexity, latency, and cost management.</a:t>
            </a:r>
          </a:p>
          <a:p>
            <a:pPr>
              <a:buFont typeface="Arial" pitchFamily="34" charset="0"/>
              <a:buChar char="•"/>
            </a:pPr>
            <a:r>
              <a:rPr lang="en-US" sz="1600" b="1" dirty="0" smtClean="0">
                <a:latin typeface="Times New Roman" pitchFamily="18" charset="0"/>
                <a:cs typeface="Times New Roman" pitchFamily="18" charset="0"/>
              </a:rPr>
              <a:t> Conclusion: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Effective scaling is essential for building robust, high-traffic systems and is a key concept in modern system design.</a:t>
            </a:r>
            <a:endParaRPr lang="en-US" sz="16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pitchFamily="34" charset="0"/>
              <a:buChar char="•"/>
              <a:tabLst>
                <a:tab pos="355600" algn="l"/>
              </a:tabLst>
            </a:pPr>
            <a:r>
              <a:rPr lang="en-US" sz="1600" dirty="0">
                <a:latin typeface="Times New Roman" pitchFamily="18" charset="0"/>
                <a:cs typeface="Times New Roman" pitchFamily="18" charset="0"/>
              </a:rPr>
              <a:t>Load Balancing </a:t>
            </a:r>
            <a:r>
              <a:rPr lang="en-US" sz="1600" dirty="0" smtClean="0">
                <a:latin typeface="Times New Roman" pitchFamily="18" charset="0"/>
                <a:cs typeface="Times New Roman" pitchFamily="18" charset="0"/>
              </a:rPr>
              <a:t>Algorithms</a:t>
            </a:r>
          </a:p>
          <a:p>
            <a:pPr marL="355600" indent="-342900">
              <a:lnSpc>
                <a:spcPts val="2290"/>
              </a:lnSpc>
              <a:spcBef>
                <a:spcPts val="130"/>
              </a:spcBef>
              <a:buClr>
                <a:srgbClr val="000000"/>
              </a:buClr>
              <a:buFont typeface="Arial" pitchFamily="34" charset="0"/>
              <a:buChar char="•"/>
              <a:tabLst>
                <a:tab pos="355600" algn="l"/>
              </a:tabLst>
            </a:pP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Caching Strategies Overview</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pitchFamily="34" charset="0"/>
              <a:buChar char="•"/>
              <a:tabLst>
                <a:tab pos="355600" algn="l"/>
              </a:tabLst>
            </a:pPr>
            <a:r>
              <a:rPr lang="en-US" sz="1600" dirty="0" smtClean="0">
                <a:latin typeface="Times New Roman" pitchFamily="18" charset="0"/>
                <a:cs typeface="Times New Roman" pitchFamily="18" charset="0"/>
              </a:rPr>
              <a:t>Client-Side </a:t>
            </a:r>
            <a:r>
              <a:rPr lang="en-US" sz="1600" dirty="0" err="1">
                <a:latin typeface="Times New Roman" pitchFamily="18" charset="0"/>
                <a:cs typeface="Times New Roman" pitchFamily="18" charset="0"/>
              </a:rPr>
              <a:t>vs</a:t>
            </a:r>
            <a:r>
              <a:rPr lang="en-US" sz="1600" dirty="0">
                <a:latin typeface="Times New Roman" pitchFamily="18" charset="0"/>
                <a:cs typeface="Times New Roman" pitchFamily="18" charset="0"/>
              </a:rPr>
              <a:t> Server-Side Caching</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pitchFamily="34" charset="0"/>
              <a:buChar char="•"/>
              <a:tabLst>
                <a:tab pos="355600" algn="l"/>
              </a:tabLst>
            </a:pPr>
            <a:r>
              <a:rPr lang="en-US" sz="1600" dirty="0" smtClean="0">
                <a:latin typeface="Times New Roman" pitchFamily="18" charset="0"/>
                <a:cs typeface="Times New Roman" pitchFamily="18" charset="0"/>
              </a:rPr>
              <a:t>Replication Techniques</a:t>
            </a:r>
          </a:p>
          <a:p>
            <a:pPr marL="355600" indent="-342900">
              <a:lnSpc>
                <a:spcPts val="2290"/>
              </a:lnSpc>
              <a:spcBef>
                <a:spcPts val="130"/>
              </a:spcBef>
              <a:buClr>
                <a:srgbClr val="000000"/>
              </a:buClr>
              <a:buFont typeface="Arial" pitchFamily="34" charset="0"/>
              <a:buChar char="•"/>
              <a:tabLst>
                <a:tab pos="355600" algn="l"/>
              </a:tabLst>
            </a:pPr>
            <a:r>
              <a:rPr lang="en-US" sz="1600" dirty="0" smtClean="0">
                <a:latin typeface="Times New Roman" pitchFamily="18" charset="0"/>
                <a:cs typeface="Times New Roman" pitchFamily="18" charset="0"/>
              </a:rPr>
              <a:t> </a:t>
            </a:r>
            <a:r>
              <a:rPr lang="en-US" sz="1600" dirty="0" err="1">
                <a:latin typeface="Times New Roman" pitchFamily="18" charset="0"/>
                <a:cs typeface="Times New Roman" pitchFamily="18" charset="0"/>
              </a:rPr>
              <a:t>Sharding</a:t>
            </a:r>
            <a:r>
              <a:rPr lang="en-US" sz="1600" dirty="0">
                <a:latin typeface="Times New Roman" pitchFamily="18" charset="0"/>
                <a:cs typeface="Times New Roman" pitchFamily="18" charset="0"/>
              </a:rPr>
              <a:t> Strategies</a:t>
            </a:r>
            <a:r>
              <a:rPr lang="en-US" sz="1600" dirty="0" smtClean="0">
                <a:latin typeface="Times New Roman" pitchFamily="18" charset="0"/>
                <a:cs typeface="Times New Roman" pitchFamily="18" charset="0"/>
              </a:rPr>
              <a:t> </a:t>
            </a:r>
            <a:endParaRPr lang="en-US" sz="1600" dirty="0" smtClean="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696200" cy="3799205"/>
          </a:xfrm>
          <a:prstGeom prst="rect">
            <a:avLst/>
          </a:prstGeom>
        </p:spPr>
        <p:txBody>
          <a:bodyPr vert="horz" wrap="square" lIns="0" tIns="12700" rIns="0" bIns="0" rtlCol="0">
            <a:noAutofit/>
          </a:bodyPr>
          <a:lstStyle/>
          <a:p>
            <a:pPr marL="342900" indent="-342900">
              <a:buFont typeface="+mj-lt"/>
              <a:buAutoNum type="arabicPeriod"/>
            </a:pPr>
            <a:r>
              <a:rPr lang="en-US" sz="1600" b="1" dirty="0" smtClean="0">
                <a:latin typeface="Times New Roman" pitchFamily="18" charset="0"/>
                <a:cs typeface="Times New Roman" pitchFamily="18" charset="0"/>
              </a:rPr>
              <a:t>What is scaling in system design?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Reducing system size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Improving system security</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Increasing system capacity to handle more load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Removing system components</a:t>
            </a:r>
          </a:p>
          <a:p>
            <a:pPr marL="342900" indent="-342900">
              <a:buFont typeface="+mj-lt"/>
              <a:buAutoNum type="arabicPeriod"/>
            </a:pPr>
            <a:r>
              <a:rPr lang="en-US" sz="1600" b="1" dirty="0" smtClean="0">
                <a:latin typeface="Times New Roman" pitchFamily="18" charset="0"/>
                <a:cs typeface="Times New Roman" pitchFamily="18" charset="0"/>
              </a:rPr>
              <a:t>Which type of scaling adds more machines to the system?</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Vertical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Horizontal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Diagonal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Manual scaling</a:t>
            </a:r>
          </a:p>
          <a:p>
            <a:pPr marL="342900" indent="-342900">
              <a:buFont typeface="+mj-lt"/>
              <a:buAutoNum type="arabicPeriod"/>
            </a:pPr>
            <a:r>
              <a:rPr lang="en-US" sz="1600" b="1" dirty="0" smtClean="0">
                <a:latin typeface="Times New Roman" pitchFamily="18" charset="0"/>
                <a:cs typeface="Times New Roman" pitchFamily="18" charset="0"/>
              </a:rPr>
              <a:t>Which component helps distribute traffic across servers?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Cache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Database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Load Balancer</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Firewall</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Quiz</a:t>
            </a: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924800" cy="3885565"/>
          </a:xfrm>
          <a:prstGeom prst="rect">
            <a:avLst/>
          </a:prstGeom>
        </p:spPr>
        <p:txBody>
          <a:bodyPr vert="horz" wrap="square" lIns="0" tIns="12700" rIns="0" bIns="0" rtlCol="0">
            <a:noAutofit/>
          </a:bodyPr>
          <a:lstStyle/>
          <a:p>
            <a:pPr marL="342900" indent="-342900">
              <a:buFont typeface="+mj-lt"/>
              <a:buAutoNum type="arabicPeriod"/>
            </a:pPr>
            <a:r>
              <a:rPr lang="en-US" sz="1600" b="1" dirty="0" smtClean="0">
                <a:latin typeface="Times New Roman" pitchFamily="18" charset="0"/>
                <a:cs typeface="Times New Roman" pitchFamily="18" charset="0"/>
              </a:rPr>
              <a:t>What is scaling in system design?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Scaling is the process of increasing a system’s capacity to handle more users, data, or requests.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Why is scaling important?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It ensures good performance, availability, and reliability as system usage grows.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What is the difference between vertical and horizontal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Vertical scaling increases resources on one machine, while horizontal scaling adds more machines.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Which techniques are commonly used for scaling?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Load balancing, caching, database replication, and </a:t>
            </a:r>
            <a:r>
              <a:rPr lang="en-US" sz="1600" dirty="0" err="1" smtClean="0">
                <a:latin typeface="Times New Roman" pitchFamily="18" charset="0"/>
                <a:cs typeface="Times New Roman" pitchFamily="18" charset="0"/>
              </a:rPr>
              <a:t>sharding</a:t>
            </a:r>
            <a:r>
              <a:rPr lang="en-US" sz="1600" dirty="0" smtClean="0">
                <a:latin typeface="Times New Roman" pitchFamily="18" charset="0"/>
                <a:cs typeface="Times New Roman" pitchFamily="18" charset="0"/>
              </a:rPr>
              <a:t>.</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What are the challenges of scaling systems?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Managing data consistency, system complexity, latency, and cost.</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buFont typeface="Arial" pitchFamily="34" charset="0"/>
              <a:buChar char="•"/>
            </a:pPr>
            <a:r>
              <a:rPr lang="en-US" sz="1600" i="0" dirty="0" smtClean="0">
                <a:solidFill>
                  <a:schemeClr val="tx1"/>
                </a:solidFill>
              </a:rPr>
              <a:t> </a:t>
            </a:r>
            <a:r>
              <a:rPr lang="en-US" sz="1600" i="0" dirty="0" err="1" smtClean="0">
                <a:solidFill>
                  <a:schemeClr val="tx1"/>
                </a:solidFill>
              </a:rPr>
              <a:t>Kleppmann</a:t>
            </a:r>
            <a:r>
              <a:rPr lang="en-US" sz="1600" i="0" dirty="0" smtClean="0">
                <a:solidFill>
                  <a:schemeClr val="tx1"/>
                </a:solidFill>
              </a:rPr>
              <a:t>, Martin</a:t>
            </a:r>
            <a:br>
              <a:rPr lang="en-US" sz="1600" i="0" dirty="0" smtClean="0">
                <a:solidFill>
                  <a:schemeClr val="tx1"/>
                </a:solidFill>
              </a:rPr>
            </a:br>
            <a:r>
              <a:rPr lang="en-US" sz="1600" i="0" dirty="0" smtClean="0">
                <a:solidFill>
                  <a:schemeClr val="tx1"/>
                </a:solidFill>
              </a:rPr>
              <a:t>Designing Data-Intensive Applications, O’Reilly Media</a:t>
            </a:r>
            <a:r>
              <a:rPr lang="en-US" sz="1600" i="0" dirty="0" smtClean="0">
                <a:solidFill>
                  <a:schemeClr val="tx1"/>
                </a:solidFill>
              </a:rPr>
              <a:t>.</a:t>
            </a:r>
          </a:p>
          <a:p>
            <a:pPr marL="12700">
              <a:lnSpc>
                <a:spcPct val="150000"/>
              </a:lnSpc>
              <a:spcBef>
                <a:spcPts val="125"/>
              </a:spcBef>
              <a:buFont typeface="Arial" pitchFamily="34" charset="0"/>
              <a:buChar char="•"/>
            </a:pPr>
            <a:r>
              <a:rPr lang="en-US" sz="1600" i="0" dirty="0" smtClean="0">
                <a:solidFill>
                  <a:schemeClr val="tx1"/>
                </a:solidFill>
              </a:rPr>
              <a:t> Richards</a:t>
            </a:r>
            <a:r>
              <a:rPr lang="en-US" sz="1600" i="0" dirty="0" smtClean="0">
                <a:solidFill>
                  <a:schemeClr val="tx1"/>
                </a:solidFill>
              </a:rPr>
              <a:t>, Mark &amp; Ford, Neal</a:t>
            </a:r>
            <a:br>
              <a:rPr lang="en-US" sz="1600" i="0" dirty="0" smtClean="0">
                <a:solidFill>
                  <a:schemeClr val="tx1"/>
                </a:solidFill>
              </a:rPr>
            </a:br>
            <a:r>
              <a:rPr lang="en-US" sz="1600" i="0" dirty="0" smtClean="0">
                <a:solidFill>
                  <a:schemeClr val="tx1"/>
                </a:solidFill>
              </a:rPr>
              <a:t>Fundamentals of Software Architecture, O’Reilly Media.</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Tutorial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https://www.youtube.com/watch?v=xpDnVSmNFX0 </a:t>
            </a:r>
            <a:endParaRPr lang="en-US" altLang="en-US" sz="1600" b="0" i="0" dirty="0" smtClean="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smtClean="0">
                <a:solidFill>
                  <a:schemeClr val="tx1"/>
                </a:solidFill>
                <a:latin typeface="Times New Roman Bold" panose="02020503050405090304" charset="0"/>
                <a:cs typeface="Times New Roman Bold" panose="02020503050405090304" charset="0"/>
              </a:rPr>
              <a:t>Video </a:t>
            </a:r>
            <a:r>
              <a:rPr lang="en-US" altLang="en-US" sz="1600" i="0" dirty="0">
                <a:solidFill>
                  <a:schemeClr val="tx1"/>
                </a:solidFill>
                <a:latin typeface="Times New Roman Bold" panose="02020503050405090304" charset="0"/>
                <a:cs typeface="Times New Roman Bold" panose="02020503050405090304" charset="0"/>
              </a:rPr>
              <a:t>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https://www.youtube.com/watch?v=EWS_CIxttVw</a:t>
            </a:r>
            <a:endParaRPr lang="en-US" altLang="en-US" sz="1600" b="0" i="0" dirty="0">
              <a:solidFill>
                <a:schemeClr val="tx1"/>
              </a:solidFill>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793</TotalTime>
  <Words>1007</Words>
  <Application>Microsoft Office PowerPoint</Application>
  <PresentationFormat>On-screen Show (16:9)</PresentationFormat>
  <Paragraphs>158</Paragraphs>
  <Slides>23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5" baseType="lpstr">
      <vt:lpstr>Office Theme</vt:lpstr>
      <vt:lpstr>CorelDRAW</vt:lpstr>
      <vt:lpstr>Slide 1</vt:lpstr>
      <vt:lpstr>Slide 2</vt:lpstr>
      <vt:lpstr>Course Outcomes</vt:lpstr>
      <vt:lpstr>Unit-1 Syllabus</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Summary of the Lecture</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116</cp:revision>
  <dcterms:created xsi:type="dcterms:W3CDTF">2025-12-03T05:18:11Z</dcterms:created>
  <dcterms:modified xsi:type="dcterms:W3CDTF">2025-12-15T06:25:17Z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