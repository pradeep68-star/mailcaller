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5109" y="1064652"/>
            <a:ext cx="3419881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BF0000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F0000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F0000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F0000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43" y="528251"/>
            <a:ext cx="2399339" cy="23993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28" y="110528"/>
            <a:ext cx="363433" cy="57600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348037" y="2556014"/>
            <a:ext cx="1260475" cy="900430"/>
          </a:xfrm>
          <a:custGeom>
            <a:avLst/>
            <a:gdLst/>
            <a:ahLst/>
            <a:cxnLst/>
            <a:rect l="l" t="t" r="r" b="b"/>
            <a:pathLst>
              <a:path w="1260475" h="900429">
                <a:moveTo>
                  <a:pt x="1260017" y="0"/>
                </a:moveTo>
                <a:lnTo>
                  <a:pt x="0" y="900023"/>
                </a:lnTo>
                <a:lnTo>
                  <a:pt x="1260017" y="900023"/>
                </a:lnTo>
                <a:lnTo>
                  <a:pt x="1260017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997" y="13"/>
            <a:ext cx="272565" cy="4319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04517"/>
            <a:ext cx="25203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BF0000"/>
                </a:solidFill>
                <a:latin typeface="Gill Sans MT" panose="020B0502020104020203"/>
                <a:cs typeface="Gill Sans MT" panose="020B05020201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9298" y="1407538"/>
            <a:ext cx="2009139" cy="1189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14838" y="3315632"/>
            <a:ext cx="726439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prince.18505@cumail.in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644" y="85096"/>
            <a:ext cx="3852545" cy="30924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11730">
              <a:lnSpc>
                <a:spcPct val="100000"/>
              </a:lnSpc>
              <a:spcBef>
                <a:spcPts val="540"/>
              </a:spcBef>
            </a:pPr>
            <a:r>
              <a:rPr sz="1000" spc="-2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Academic </a:t>
            </a:r>
            <a:r>
              <a:rPr sz="1000" spc="-35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Session</a:t>
            </a:r>
            <a:r>
              <a:rPr sz="1000" spc="-2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spc="-4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2025–26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2053590">
              <a:lnSpc>
                <a:spcPct val="100000"/>
              </a:lnSpc>
              <a:spcBef>
                <a:spcPts val="435"/>
              </a:spcBef>
            </a:pPr>
            <a:r>
              <a:rPr sz="1000" b="1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EVEN</a:t>
            </a:r>
            <a:r>
              <a:rPr sz="1000" b="1" spc="60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30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Semester</a:t>
            </a:r>
            <a:r>
              <a:rPr sz="1000" b="1" spc="65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30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Jan–Jun</a:t>
            </a:r>
            <a:r>
              <a:rPr sz="1000" b="1" spc="65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20" dirty="0">
                <a:solidFill>
                  <a:srgbClr val="7F7F7F"/>
                </a:solidFill>
                <a:latin typeface="Arial" panose="020B0604020202020204"/>
                <a:cs typeface="Arial" panose="020B0604020202020204"/>
              </a:rPr>
              <a:t>2026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85"/>
              </a:spcBef>
            </a:pPr>
            <a:endParaRPr sz="1000">
              <a:latin typeface="Arial" panose="020B0604020202020204"/>
              <a:cs typeface="Arial" panose="020B0604020202020204"/>
            </a:endParaRPr>
          </a:p>
          <a:p>
            <a:pPr marL="45085" marR="506095" algn="ctr">
              <a:lnSpc>
                <a:spcPct val="134000"/>
              </a:lnSpc>
            </a:pPr>
            <a:r>
              <a:rPr sz="1200" b="1" dirty="0">
                <a:latin typeface="Arial" panose="020B0604020202020204"/>
                <a:cs typeface="Arial" panose="020B0604020202020204"/>
              </a:rPr>
              <a:t>UNIVERSITY</a:t>
            </a:r>
            <a:r>
              <a:rPr sz="1200" b="1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60" dirty="0">
                <a:latin typeface="Arial" panose="020B0604020202020204"/>
                <a:cs typeface="Arial" panose="020B0604020202020204"/>
              </a:rPr>
              <a:t>INSTITUTE</a:t>
            </a:r>
            <a:r>
              <a:rPr sz="1200" b="1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200" b="1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ENGINEERING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DEPARTMENT</a:t>
            </a:r>
            <a:r>
              <a:rPr sz="1200" b="1" spc="22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AIT-CSE</a:t>
            </a:r>
            <a:r>
              <a:rPr sz="1200" b="1" spc="22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CORE</a:t>
            </a:r>
            <a:r>
              <a:rPr sz="1200" b="1" spc="22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125" dirty="0"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22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latin typeface="Arial" panose="020B0604020202020204"/>
                <a:cs typeface="Arial" panose="020B0604020202020204"/>
              </a:rPr>
              <a:t>AIML</a:t>
            </a:r>
            <a:endParaRPr sz="1200" b="1" spc="-20" dirty="0">
              <a:latin typeface="Arial" panose="020B0604020202020204"/>
              <a:cs typeface="Arial" panose="020B0604020202020204"/>
            </a:endParaRPr>
          </a:p>
          <a:p>
            <a:pPr marL="45085" marR="506095" algn="ctr">
              <a:lnSpc>
                <a:spcPct val="134000"/>
              </a:lnSpc>
            </a:pPr>
            <a:r>
              <a:rPr sz="1200" b="1" spc="-20" dirty="0">
                <a:latin typeface="Arial" panose="020B0604020202020204"/>
                <a:cs typeface="Arial" panose="020B0604020202020204"/>
              </a:rPr>
              <a:t>Program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Code</a:t>
            </a:r>
            <a:r>
              <a:rPr sz="1200" dirty="0">
                <a:latin typeface="Gill Sans MT" panose="020B0502020104020203"/>
                <a:cs typeface="Gill Sans MT" panose="020B0502020104020203"/>
              </a:rPr>
              <a:t>:</a:t>
            </a:r>
            <a:r>
              <a:rPr sz="1200" spc="50" dirty="0">
                <a:latin typeface="Gill Sans MT" panose="020B0502020104020203"/>
                <a:cs typeface="Gill Sans MT" panose="020B0502020104020203"/>
              </a:rPr>
              <a:t> </a:t>
            </a:r>
            <a:r>
              <a:rPr sz="1200" spc="-10" dirty="0">
                <a:latin typeface="Gill Sans MT" panose="020B0502020104020203"/>
                <a:cs typeface="Gill Sans MT" panose="020B0502020104020203"/>
              </a:rPr>
              <a:t>AI201 </a:t>
            </a:r>
            <a:r>
              <a:rPr sz="1200" dirty="0">
                <a:latin typeface="Gill Sans MT" panose="020B0502020104020203"/>
                <a:cs typeface="Gill Sans MT" panose="020B0502020104020203"/>
              </a:rPr>
              <a:t>Semester:</a:t>
            </a:r>
            <a:r>
              <a:rPr sz="1200" spc="85" dirty="0">
                <a:latin typeface="Gill Sans MT" panose="020B0502020104020203"/>
                <a:cs typeface="Gill Sans MT" panose="020B0502020104020203"/>
              </a:rPr>
              <a:t> </a:t>
            </a:r>
            <a:r>
              <a:rPr lang="en-US" altLang="" sz="1200" spc="85" dirty="0">
                <a:latin typeface="Gill Sans MT" panose="020B0502020104020203"/>
                <a:cs typeface="Gill Sans MT" panose="020B0502020104020203"/>
              </a:rPr>
              <a:t>6</a:t>
            </a:r>
            <a:r>
              <a:rPr sz="1200" spc="-25" dirty="0">
                <a:latin typeface="Gill Sans MT" panose="020B0502020104020203"/>
                <a:cs typeface="Gill Sans MT" panose="020B0502020104020203"/>
              </a:rPr>
              <a:t>th</a:t>
            </a:r>
            <a:endParaRPr sz="1200">
              <a:latin typeface="Gill Sans MT" panose="020B0502020104020203"/>
              <a:cs typeface="Gill Sans MT" panose="020B0502020104020203"/>
            </a:endParaRPr>
          </a:p>
          <a:p>
            <a:pPr marR="458470" algn="ctr">
              <a:lnSpc>
                <a:spcPct val="100000"/>
              </a:lnSpc>
              <a:spcBef>
                <a:spcPts val="175"/>
              </a:spcBef>
            </a:pPr>
            <a:r>
              <a:rPr sz="1200" b="1" spc="-10" dirty="0">
                <a:latin typeface="Arial" panose="020B0604020202020204"/>
                <a:cs typeface="Arial" panose="020B0604020202020204"/>
              </a:rPr>
              <a:t>Full</a:t>
            </a:r>
            <a:r>
              <a:rPr sz="1200" b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Stack</a:t>
            </a:r>
            <a:r>
              <a:rPr sz="1200" b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-</a:t>
            </a:r>
            <a:r>
              <a:rPr sz="1200" b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70" dirty="0">
                <a:latin typeface="Arial" panose="020B0604020202020204"/>
                <a:cs typeface="Arial" panose="020B0604020202020204"/>
              </a:rPr>
              <a:t>II</a:t>
            </a:r>
            <a:r>
              <a:rPr sz="1200" b="1" spc="8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latin typeface="Arial" panose="020B0604020202020204"/>
                <a:cs typeface="Arial" panose="020B0604020202020204"/>
              </a:rPr>
              <a:t>(23CSH-</a:t>
            </a:r>
            <a:r>
              <a:rPr sz="1200" b="1" spc="-20" dirty="0">
                <a:latin typeface="Arial" panose="020B0604020202020204"/>
                <a:cs typeface="Arial" panose="020B0604020202020204"/>
              </a:rPr>
              <a:t>382)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R="459740" algn="ctr">
              <a:lnSpc>
                <a:spcPct val="100000"/>
              </a:lnSpc>
              <a:spcBef>
                <a:spcPts val="565"/>
              </a:spcBef>
            </a:pPr>
            <a:r>
              <a:rPr sz="1400" b="1" dirty="0">
                <a:latin typeface="Arial" panose="020B0604020202020204"/>
                <a:cs typeface="Arial" panose="020B0604020202020204"/>
              </a:rPr>
              <a:t>LECTURE</a:t>
            </a:r>
            <a:r>
              <a:rPr sz="1400" b="1" spc="330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spc="-50" dirty="0">
                <a:latin typeface="Arial" panose="020B0604020202020204"/>
                <a:cs typeface="Arial" panose="020B0604020202020204"/>
              </a:rPr>
              <a:t>1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R="461645" algn="ctr">
              <a:lnSpc>
                <a:spcPct val="100000"/>
              </a:lnSpc>
              <a:spcBef>
                <a:spcPts val="440"/>
              </a:spcBef>
            </a:pPr>
            <a:r>
              <a:rPr sz="1200" b="1" spc="-50" dirty="0">
                <a:latin typeface="Arial" panose="020B0604020202020204"/>
                <a:cs typeface="Arial" panose="020B0604020202020204"/>
              </a:rPr>
              <a:t>Course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 Overview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R="458470" algn="ctr">
              <a:lnSpc>
                <a:spcPct val="100000"/>
              </a:lnSpc>
              <a:spcBef>
                <a:spcPts val="200"/>
              </a:spcBef>
            </a:pPr>
            <a:r>
              <a:rPr sz="1200" b="1" spc="125" dirty="0"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Full</a:t>
            </a:r>
            <a:r>
              <a:rPr sz="12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Stack</a:t>
            </a:r>
            <a:r>
              <a:rPr sz="12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latin typeface="Arial" panose="020B0604020202020204"/>
                <a:cs typeface="Arial" panose="020B0604020202020204"/>
              </a:rPr>
              <a:t>Fundamentals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R="460375" algn="ctr">
              <a:lnSpc>
                <a:spcPct val="100000"/>
              </a:lnSpc>
              <a:spcBef>
                <a:spcPts val="965"/>
              </a:spcBef>
            </a:pPr>
            <a:r>
              <a:rPr sz="1000" b="1" spc="-10" dirty="0">
                <a:latin typeface="Arial" panose="020B0604020202020204"/>
                <a:cs typeface="Arial" panose="020B0604020202020204"/>
              </a:rPr>
              <a:t>Theory</a:t>
            </a:r>
            <a:r>
              <a:rPr sz="1000" b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-60" dirty="0">
                <a:latin typeface="Arial" panose="020B0604020202020204"/>
                <a:cs typeface="Arial" panose="020B0604020202020204"/>
              </a:rPr>
              <a:t>Session</a:t>
            </a:r>
            <a:r>
              <a:rPr sz="1000" b="1" spc="30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90" dirty="0">
                <a:latin typeface="Arial" panose="020B0604020202020204"/>
                <a:cs typeface="Arial" panose="020B0604020202020204"/>
              </a:rPr>
              <a:t>—</a:t>
            </a:r>
            <a:r>
              <a:rPr sz="1000" b="1" spc="30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-25" dirty="0">
                <a:latin typeface="Arial" panose="020B0604020202020204"/>
                <a:cs typeface="Arial" panose="020B0604020202020204"/>
              </a:rPr>
              <a:t>CO1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Arial" panose="020B0604020202020204"/>
              <a:cs typeface="Arial" panose="020B0604020202020204"/>
            </a:endParaRPr>
          </a:p>
          <a:p>
            <a:pPr marR="461010" algn="ctr">
              <a:lnSpc>
                <a:spcPct val="100000"/>
              </a:lnSpc>
              <a:tabLst>
                <a:tab pos="2255520" algn="l"/>
              </a:tabLst>
            </a:pPr>
            <a:r>
              <a:rPr sz="1000" b="1" dirty="0">
                <a:latin typeface="Arial" panose="020B0604020202020204"/>
                <a:cs typeface="Arial" panose="020B0604020202020204"/>
              </a:rPr>
              <a:t>Mr.</a:t>
            </a:r>
            <a:r>
              <a:rPr sz="10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latin typeface="Arial" panose="020B0604020202020204"/>
                <a:cs typeface="Arial" panose="020B0604020202020204"/>
              </a:rPr>
              <a:t>Prince</a:t>
            </a:r>
            <a:r>
              <a:rPr sz="10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latin typeface="Arial" panose="020B0604020202020204"/>
                <a:cs typeface="Arial" panose="020B0604020202020204"/>
              </a:rPr>
              <a:t>Pal</a:t>
            </a:r>
            <a:r>
              <a:rPr sz="1000" b="1" spc="55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-30" dirty="0">
                <a:latin typeface="Arial" panose="020B0604020202020204"/>
                <a:cs typeface="Arial" panose="020B0604020202020204"/>
              </a:rPr>
              <a:t>Singh</a:t>
            </a:r>
            <a:r>
              <a:rPr sz="10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latin typeface="Arial" panose="020B0604020202020204"/>
                <a:cs typeface="Arial" panose="020B0604020202020204"/>
              </a:rPr>
              <a:t>(E18505)</a:t>
            </a:r>
            <a:r>
              <a:rPr sz="1000" b="1" dirty="0">
                <a:latin typeface="Arial" panose="020B0604020202020204"/>
                <a:cs typeface="Arial" panose="020B0604020202020204"/>
              </a:rPr>
              <a:t>	</a:t>
            </a:r>
            <a:r>
              <a:rPr sz="1000" b="1" spc="-35" dirty="0">
                <a:latin typeface="Arial" panose="020B0604020202020204"/>
                <a:cs typeface="Arial" panose="020B0604020202020204"/>
              </a:rPr>
              <a:t>Assistant</a:t>
            </a:r>
            <a:r>
              <a:rPr sz="1000" b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1000" b="1" spc="-40" dirty="0">
                <a:latin typeface="Arial" panose="020B0604020202020204"/>
                <a:cs typeface="Arial" panose="020B0604020202020204"/>
              </a:rPr>
              <a:t>Professor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Lecture</a:t>
            </a:r>
            <a:r>
              <a:rPr spc="50" dirty="0"/>
              <a:t> </a:t>
            </a:r>
            <a:r>
              <a:rPr dirty="0"/>
              <a:t>1</a:t>
            </a:r>
            <a:r>
              <a:rPr spc="60" dirty="0"/>
              <a:t> </a:t>
            </a:r>
            <a:r>
              <a:rPr spc="-10" dirty="0"/>
              <a:t>Objectives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933401"/>
            <a:ext cx="3888104" cy="375285"/>
            <a:chOff x="359994" y="933401"/>
            <a:chExt cx="3888104" cy="375285"/>
          </a:xfrm>
        </p:grpSpPr>
        <p:sp>
          <p:nvSpPr>
            <p:cNvPr id="4" name="object 4"/>
            <p:cNvSpPr/>
            <p:nvPr/>
          </p:nvSpPr>
          <p:spPr>
            <a:xfrm>
              <a:off x="359994" y="933401"/>
              <a:ext cx="3888104" cy="375285"/>
            </a:xfrm>
            <a:custGeom>
              <a:avLst/>
              <a:gdLst/>
              <a:ahLst/>
              <a:cxnLst/>
              <a:rect l="l" t="t" r="r" b="b"/>
              <a:pathLst>
                <a:path w="3888104" h="375284">
                  <a:moveTo>
                    <a:pt x="3870045" y="0"/>
                  </a:moveTo>
                  <a:lnTo>
                    <a:pt x="17999" y="0"/>
                  </a:lnTo>
                  <a:lnTo>
                    <a:pt x="10993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0"/>
                  </a:lnTo>
                  <a:lnTo>
                    <a:pt x="0" y="357155"/>
                  </a:lnTo>
                  <a:lnTo>
                    <a:pt x="1414" y="364161"/>
                  </a:lnTo>
                  <a:lnTo>
                    <a:pt x="5272" y="369883"/>
                  </a:lnTo>
                  <a:lnTo>
                    <a:pt x="10993" y="373740"/>
                  </a:lnTo>
                  <a:lnTo>
                    <a:pt x="17999" y="375155"/>
                  </a:lnTo>
                  <a:lnTo>
                    <a:pt x="3870045" y="375155"/>
                  </a:lnTo>
                  <a:lnTo>
                    <a:pt x="3877054" y="373740"/>
                  </a:lnTo>
                  <a:lnTo>
                    <a:pt x="3882778" y="369883"/>
                  </a:lnTo>
                  <a:lnTo>
                    <a:pt x="3886638" y="364161"/>
                  </a:lnTo>
                  <a:lnTo>
                    <a:pt x="3888054" y="357155"/>
                  </a:lnTo>
                  <a:lnTo>
                    <a:pt x="3888054" y="18000"/>
                  </a:lnTo>
                  <a:lnTo>
                    <a:pt x="3886638" y="10994"/>
                  </a:lnTo>
                  <a:lnTo>
                    <a:pt x="3882778" y="5272"/>
                  </a:lnTo>
                  <a:lnTo>
                    <a:pt x="3877054" y="1414"/>
                  </a:lnTo>
                  <a:lnTo>
                    <a:pt x="387004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7994" y="951402"/>
              <a:ext cx="3852545" cy="339725"/>
            </a:xfrm>
            <a:custGeom>
              <a:avLst/>
              <a:gdLst/>
              <a:ahLst/>
              <a:cxnLst/>
              <a:rect l="l" t="t" r="r" b="b"/>
              <a:pathLst>
                <a:path w="3852545" h="339725">
                  <a:moveTo>
                    <a:pt x="3852045" y="0"/>
                  </a:moveTo>
                  <a:lnTo>
                    <a:pt x="0" y="0"/>
                  </a:lnTo>
                  <a:lnTo>
                    <a:pt x="0" y="339154"/>
                  </a:lnTo>
                  <a:lnTo>
                    <a:pt x="3852045" y="339154"/>
                  </a:lnTo>
                  <a:lnTo>
                    <a:pt x="3852045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77994" y="951402"/>
            <a:ext cx="3852545" cy="3397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505"/>
              </a:spcBef>
            </a:pPr>
            <a:r>
              <a:rPr sz="1100" b="1" dirty="0">
                <a:latin typeface="Arial" panose="020B0604020202020204"/>
                <a:cs typeface="Arial" panose="020B0604020202020204"/>
              </a:rPr>
              <a:t>By</a:t>
            </a:r>
            <a:r>
              <a:rPr sz="11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25" dirty="0">
                <a:latin typeface="Arial" panose="020B0604020202020204"/>
                <a:cs typeface="Arial" panose="020B0604020202020204"/>
              </a:rPr>
              <a:t>end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of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 this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lecture, </a:t>
            </a:r>
            <a:r>
              <a:rPr sz="1100" b="1" spc="-40" dirty="0">
                <a:latin typeface="Arial" panose="020B0604020202020204"/>
                <a:cs typeface="Arial" panose="020B0604020202020204"/>
              </a:rPr>
              <a:t>students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will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be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25" dirty="0">
                <a:latin typeface="Arial" panose="020B0604020202020204"/>
                <a:cs typeface="Arial" panose="020B0604020202020204"/>
              </a:rPr>
              <a:t>able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25" dirty="0">
                <a:latin typeface="Arial" panose="020B0604020202020204"/>
                <a:cs typeface="Arial" panose="020B0604020202020204"/>
              </a:rPr>
              <a:t>to: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357" y="1429979"/>
            <a:ext cx="3815079" cy="1591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435"/>
              </a:spcBef>
              <a:buClr>
                <a:srgbClr val="3333B2"/>
              </a:buClr>
              <a:buAutoNum type="arabicPeriod"/>
              <a:tabLst>
                <a:tab pos="190500" algn="l"/>
              </a:tabLst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Understand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course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structure,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evaluation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scheme,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policies.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89230" marR="84074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23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Define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term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Full</a:t>
            </a:r>
            <a:r>
              <a:rPr sz="11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Stack</a:t>
            </a:r>
            <a:r>
              <a:rPr sz="1100" b="1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30" dirty="0">
                <a:latin typeface="Arial" panose="020B0604020202020204"/>
                <a:cs typeface="Arial" panose="020B0604020202020204"/>
              </a:rPr>
              <a:t>Developer</a:t>
            </a:r>
            <a:r>
              <a:rPr sz="11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key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responsibilities.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89230" marR="50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230" algn="l"/>
              </a:tabLst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Explain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client–server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architecture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HTTP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request–response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cycle.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89230" marR="685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23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Differentiate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frontend,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backend,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database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layers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web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app.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19050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190500" algn="l"/>
              </a:tabLst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Identify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tools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technologies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used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Stack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-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II.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Course</a:t>
            </a:r>
            <a:r>
              <a:rPr spc="-45" dirty="0"/>
              <a:t> </a:t>
            </a:r>
            <a:r>
              <a:rPr spc="-10" dirty="0"/>
              <a:t>Snapshot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194" y="893264"/>
            <a:ext cx="3796665" cy="19481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Full</a:t>
            </a:r>
            <a:r>
              <a:rPr sz="11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Stack</a:t>
            </a:r>
            <a:r>
              <a:rPr sz="11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-</a:t>
            </a:r>
            <a:r>
              <a:rPr sz="1100" b="1" spc="4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75" dirty="0">
                <a:latin typeface="Arial" panose="020B0604020202020204"/>
                <a:cs typeface="Arial" panose="020B0604020202020204"/>
              </a:rPr>
              <a:t>II</a:t>
            </a:r>
            <a:r>
              <a:rPr sz="1100" b="1" spc="4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(23CSH-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382):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Credit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structure:</a:t>
            </a:r>
            <a:r>
              <a:rPr sz="110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3–0–2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(Theory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Lab).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marR="92075" indent="-177165">
              <a:lnSpc>
                <a:spcPct val="103000"/>
              </a:lnSpc>
              <a:spcBef>
                <a:spcPts val="29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Focus:</a:t>
            </a:r>
            <a:r>
              <a:rPr sz="110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Modern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stack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80" dirty="0">
                <a:latin typeface="Tahoma" panose="020B0604030504040204"/>
                <a:cs typeface="Tahoma" panose="020B0604030504040204"/>
              </a:rPr>
              <a:t>web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development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using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+ </a:t>
            </a:r>
            <a:r>
              <a:rPr sz="1100" dirty="0">
                <a:latin typeface="Tahoma" panose="020B0604030504040204"/>
                <a:cs typeface="Tahoma" panose="020B0604030504040204"/>
              </a:rPr>
              <a:t>REST</a:t>
            </a:r>
            <a:r>
              <a:rPr sz="11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APIs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DB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DevOps.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marR="431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Continuation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Stack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-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I: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deeper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into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scalable,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secure,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production-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ready</a:t>
            </a:r>
            <a:r>
              <a:rPr sz="110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apps.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1185"/>
              </a:spcBef>
            </a:pPr>
            <a:r>
              <a:rPr sz="1100" b="1" spc="-15" dirty="0">
                <a:latin typeface="Arial" panose="020B0604020202020204"/>
                <a:cs typeface="Arial" panose="020B0604020202020204"/>
              </a:rPr>
              <a:t>Delivery</a:t>
            </a:r>
            <a:r>
              <a:rPr sz="11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mode: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20" dirty="0">
                <a:latin typeface="Tahoma" panose="020B0604030504040204"/>
                <a:cs typeface="Tahoma" panose="020B0604030504040204"/>
              </a:rPr>
              <a:t>45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theory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lectures.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Regular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labs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one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stack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capstone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project.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Syllabus</a:t>
            </a:r>
            <a:r>
              <a:rPr spc="170" dirty="0"/>
              <a:t> </a:t>
            </a:r>
            <a:r>
              <a:rPr spc="-25" dirty="0"/>
              <a:t>Overview</a:t>
            </a:r>
            <a:r>
              <a:rPr spc="175" dirty="0"/>
              <a:t> </a:t>
            </a:r>
            <a:r>
              <a:rPr spc="-10" dirty="0"/>
              <a:t>(Units)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194" y="823656"/>
            <a:ext cx="3656965" cy="21221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100" b="1" dirty="0">
                <a:latin typeface="Arial" panose="020B0604020202020204"/>
                <a:cs typeface="Arial" panose="020B0604020202020204"/>
              </a:rPr>
              <a:t>Major</a:t>
            </a:r>
            <a:r>
              <a:rPr sz="1100" b="1" spc="8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units: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marR="81915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Unit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I: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Advanced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frontend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(React),</a:t>
            </a:r>
            <a:r>
              <a:rPr sz="1100" dirty="0">
                <a:latin typeface="Tahoma" panose="020B0604030504040204"/>
                <a:cs typeface="Tahoma" panose="020B0604030504040204"/>
              </a:rPr>
              <a:t> SPA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concepts,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state management.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Unit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II: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services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RESTful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APIs.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Unit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95" dirty="0">
                <a:latin typeface="Tahoma" panose="020B0604030504040204"/>
                <a:cs typeface="Tahoma" panose="020B0604030504040204"/>
              </a:rPr>
              <a:t>III: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Database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85" dirty="0">
                <a:latin typeface="Tahoma" panose="020B0604030504040204"/>
                <a:cs typeface="Tahoma" panose="020B0604030504040204"/>
              </a:rPr>
              <a:t>&amp;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persistence</a:t>
            </a:r>
            <a:r>
              <a:rPr sz="1100" dirty="0">
                <a:latin typeface="Tahoma" panose="020B0604030504040204"/>
                <a:cs typeface="Tahoma" panose="020B0604030504040204"/>
              </a:rPr>
              <a:t> with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ORM/JPA.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Unit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IV: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Authentication,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authorization,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security.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marR="431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Unit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V: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Performance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optimization,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DevOps,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deployment,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monitoring.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900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Integration: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45" dirty="0">
                <a:latin typeface="Tahoma" panose="020B0604030504040204"/>
                <a:cs typeface="Tahoma" panose="020B0604030504040204"/>
              </a:rPr>
              <a:t>End-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to-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end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stack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application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connecting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all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units.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Evaluation</a:t>
            </a:r>
            <a:r>
              <a:rPr spc="254" dirty="0"/>
              <a:t> </a:t>
            </a:r>
            <a:r>
              <a:rPr spc="180" dirty="0"/>
              <a:t>&amp;</a:t>
            </a:r>
            <a:r>
              <a:rPr spc="250" dirty="0"/>
              <a:t> </a:t>
            </a:r>
            <a:r>
              <a:rPr spc="-10" dirty="0"/>
              <a:t>Expectations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1894" y="877301"/>
            <a:ext cx="3761104" cy="19881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Tentative</a:t>
            </a:r>
            <a:r>
              <a:rPr sz="1100" b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evaluation: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CIA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(Sessionals,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quizzes,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assignments):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30%.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Lab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performance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viva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+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records:</a:t>
            </a:r>
            <a:r>
              <a:rPr sz="1100" spc="9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20%.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Project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114" dirty="0">
                <a:latin typeface="Tahoma" panose="020B0604030504040204"/>
                <a:cs typeface="Tahoma" panose="020B0604030504040204"/>
              </a:rPr>
              <a:t>/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mini-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capstone:</a:t>
            </a:r>
            <a:r>
              <a:rPr sz="1100" spc="8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10%.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End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Semester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Examination:</a:t>
            </a:r>
            <a:r>
              <a:rPr sz="110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40%.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100" b="1" spc="-60" dirty="0">
                <a:latin typeface="Arial" panose="020B0604020202020204"/>
                <a:cs typeface="Arial" panose="020B0604020202020204"/>
              </a:rPr>
              <a:t>Classroom</a:t>
            </a:r>
            <a:r>
              <a:rPr sz="11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expectations: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Minimum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attendance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as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per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university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rules.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Regular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coding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practice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timely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submission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lab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work.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Academic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integrity:</a:t>
            </a:r>
            <a:r>
              <a:rPr sz="11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strictly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no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plagiarism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or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code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copying.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110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dirty="0"/>
              <a:t>Full</a:t>
            </a:r>
            <a:r>
              <a:rPr spc="114" dirty="0"/>
              <a:t> </a:t>
            </a:r>
            <a:r>
              <a:rPr spc="50" dirty="0"/>
              <a:t>Stack</a:t>
            </a:r>
            <a:r>
              <a:rPr spc="110" dirty="0"/>
              <a:t> </a:t>
            </a:r>
            <a:r>
              <a:rPr spc="-10" dirty="0"/>
              <a:t>Development?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194" y="962098"/>
            <a:ext cx="3986529" cy="17760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Definition: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marR="29972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stack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development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=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end-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to-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end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development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 </a:t>
            </a:r>
            <a:r>
              <a:rPr sz="1100" spc="-75" dirty="0">
                <a:latin typeface="Tahoma" panose="020B0604030504040204"/>
                <a:cs typeface="Tahoma" panose="020B0604030504040204"/>
              </a:rPr>
              <a:t>web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applications.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Includes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user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interface,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business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logic,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storage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layers.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1185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Full</a:t>
            </a:r>
            <a:r>
              <a:rPr sz="11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Stack</a:t>
            </a:r>
            <a:r>
              <a:rPr sz="11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30" dirty="0">
                <a:latin typeface="Arial" panose="020B0604020202020204"/>
                <a:cs typeface="Arial" panose="020B0604020202020204"/>
              </a:rPr>
              <a:t>Developer</a:t>
            </a:r>
            <a:r>
              <a:rPr sz="11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role: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Designs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UI/UX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implements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responsive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frontend.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Builds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secures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APIs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services.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Works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databases,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deployment,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basic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DevOps.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Frontend,</a:t>
            </a:r>
            <a:r>
              <a:rPr spc="140" dirty="0"/>
              <a:t> </a:t>
            </a:r>
            <a:r>
              <a:rPr dirty="0"/>
              <a:t>Backend</a:t>
            </a:r>
            <a:r>
              <a:rPr spc="130" dirty="0"/>
              <a:t> </a:t>
            </a:r>
            <a:r>
              <a:rPr spc="180" dirty="0"/>
              <a:t>&amp;</a:t>
            </a:r>
            <a:r>
              <a:rPr spc="140" dirty="0"/>
              <a:t> </a:t>
            </a:r>
            <a:r>
              <a:rPr spc="-10" dirty="0"/>
              <a:t>Database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6494" y="860613"/>
            <a:ext cx="3824604" cy="202183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5"/>
              </a:spcBef>
            </a:pPr>
            <a:r>
              <a:rPr sz="1100" b="1" spc="-30" dirty="0">
                <a:latin typeface="Arial" panose="020B0604020202020204"/>
                <a:cs typeface="Arial" panose="020B0604020202020204"/>
              </a:rPr>
              <a:t>Frontend</a:t>
            </a:r>
            <a:r>
              <a:rPr sz="1100" b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(Client</a:t>
            </a:r>
            <a:r>
              <a:rPr sz="1100" b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side):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403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40360" algn="l"/>
              </a:tabLst>
            </a:pPr>
            <a:r>
              <a:rPr sz="1100" spc="-45" dirty="0">
                <a:latin typeface="Tahoma" panose="020B0604030504040204"/>
                <a:cs typeface="Tahoma" panose="020B0604030504040204"/>
              </a:rPr>
              <a:t>Technologies:</a:t>
            </a:r>
            <a:r>
              <a:rPr sz="1100" spc="17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HTML,</a:t>
            </a:r>
            <a:r>
              <a:rPr sz="11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CSS,</a:t>
            </a:r>
            <a:r>
              <a:rPr sz="11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JavaScript,</a:t>
            </a:r>
            <a:r>
              <a:rPr sz="11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React.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403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4036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Runs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browser,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handles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user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interaction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presentation.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63500">
              <a:lnSpc>
                <a:spcPct val="100000"/>
              </a:lnSpc>
              <a:spcBef>
                <a:spcPts val="900"/>
              </a:spcBef>
            </a:pPr>
            <a:r>
              <a:rPr sz="1100" b="1" spc="-45" dirty="0">
                <a:latin typeface="Arial" panose="020B0604020202020204"/>
                <a:cs typeface="Arial" panose="020B0604020202020204"/>
              </a:rPr>
              <a:t>Backend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 (Server</a:t>
            </a:r>
            <a:r>
              <a:rPr sz="1100" b="1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side):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40360" marR="14986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40360" algn="l"/>
              </a:tabLst>
            </a:pPr>
            <a:r>
              <a:rPr sz="1100" spc="-45" dirty="0">
                <a:latin typeface="Tahoma" panose="020B0604030504040204"/>
                <a:cs typeface="Tahoma" panose="020B0604030504040204"/>
              </a:rPr>
              <a:t>Technologies:</a:t>
            </a:r>
            <a:r>
              <a:rPr sz="1100" spc="8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Node/Express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or Java/Spring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Boot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(as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per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course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stack).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403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403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Handles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business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logic,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security,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API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endpoints.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63500">
              <a:lnSpc>
                <a:spcPct val="100000"/>
              </a:lnSpc>
              <a:spcBef>
                <a:spcPts val="900"/>
              </a:spcBef>
            </a:pPr>
            <a:r>
              <a:rPr sz="1100" b="1" spc="-25" dirty="0">
                <a:latin typeface="Arial" panose="020B0604020202020204"/>
                <a:cs typeface="Arial" panose="020B0604020202020204"/>
              </a:rPr>
              <a:t>Database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layer: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403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403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Stores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persistent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using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SQL/NoSQL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databases.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Client–Server</a:t>
            </a:r>
            <a:r>
              <a:rPr spc="-85" dirty="0"/>
              <a:t> </a:t>
            </a:r>
            <a:r>
              <a:rPr spc="-10" dirty="0"/>
              <a:t>Architecture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778097" y="3315632"/>
            <a:ext cx="6629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Page </a:t>
            </a:r>
            <a:fld id="{81D60167-4931-47E6-BA6A-407CBD079E47}" type="slidenum">
              <a:rPr sz="1000" dirty="0">
                <a:latin typeface="Tahoma" panose="020B0604030504040204"/>
                <a:cs typeface="Tahoma" panose="020B0604030504040204"/>
              </a:rPr>
            </a:fld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105" dirty="0">
                <a:latin typeface="Tahoma" panose="020B0604030504040204"/>
                <a:cs typeface="Tahoma" panose="020B0604030504040204"/>
              </a:rPr>
              <a:t>/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15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194" y="974201"/>
            <a:ext cx="3875404" cy="17379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100" b="1" dirty="0">
                <a:latin typeface="Arial" panose="020B0604020202020204"/>
                <a:cs typeface="Arial" panose="020B0604020202020204"/>
              </a:rPr>
              <a:t>Key</a:t>
            </a:r>
            <a:r>
              <a:rPr sz="11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ideas: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Client: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browser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or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mobile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app </a:t>
            </a:r>
            <a:r>
              <a:rPr sz="1100" dirty="0">
                <a:latin typeface="Tahoma" panose="020B0604030504040204"/>
                <a:cs typeface="Tahoma" panose="020B0604030504040204"/>
              </a:rPr>
              <a:t>that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sends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requests.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marR="431800" indent="-177165">
              <a:lnSpc>
                <a:spcPct val="103000"/>
              </a:lnSpc>
              <a:spcBef>
                <a:spcPts val="29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Server: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machine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running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code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that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processes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requests.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1185"/>
              </a:spcBef>
            </a:pPr>
            <a:r>
              <a:rPr sz="1100" b="1" spc="75" dirty="0">
                <a:latin typeface="Arial" panose="020B0604020202020204"/>
                <a:cs typeface="Arial" panose="020B0604020202020204"/>
              </a:rPr>
              <a:t>HTTP</a:t>
            </a:r>
            <a:r>
              <a:rPr sz="1100" b="1" spc="11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request–response: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Client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sends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HTTP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request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(method,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URL,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headers,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body).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marR="431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50" dirty="0">
                <a:latin typeface="Tahoma" panose="020B0604030504040204"/>
                <a:cs typeface="Tahoma" panose="020B0604030504040204"/>
              </a:rPr>
              <a:t>Server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processes,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accesses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database,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returns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HTTP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response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(status,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data).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End-to-End</a:t>
            </a:r>
            <a:r>
              <a:rPr spc="229" dirty="0"/>
              <a:t> </a:t>
            </a:r>
            <a:r>
              <a:rPr dirty="0"/>
              <a:t>Request</a:t>
            </a:r>
            <a:r>
              <a:rPr spc="240" dirty="0"/>
              <a:t> </a:t>
            </a:r>
            <a:r>
              <a:rPr spc="-20" dirty="0"/>
              <a:t>Flow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9194" y="969693"/>
            <a:ext cx="3850640" cy="18141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28295" indent="-177800">
              <a:lnSpc>
                <a:spcPct val="100000"/>
              </a:lnSpc>
              <a:spcBef>
                <a:spcPts val="435"/>
              </a:spcBef>
              <a:buClr>
                <a:srgbClr val="3333B2"/>
              </a:buClr>
              <a:buAutoNum type="arabicPeriod"/>
              <a:tabLst>
                <a:tab pos="328295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User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interacts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UI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(clicks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button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114" dirty="0">
                <a:latin typeface="Tahoma" panose="020B0604030504040204"/>
                <a:cs typeface="Tahoma" panose="020B0604030504040204"/>
              </a:rPr>
              <a:t>/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submits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form).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328295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sends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HTTP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request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REST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API.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8295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328295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validates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request,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runs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business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logic.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328295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reads/writes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from/to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database.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328295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sends</a:t>
            </a:r>
            <a:r>
              <a:rPr sz="1100" dirty="0">
                <a:latin typeface="Tahoma" panose="020B0604030504040204"/>
                <a:cs typeface="Tahoma" panose="020B0604030504040204"/>
              </a:rPr>
              <a:t> JSON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response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back</a:t>
            </a:r>
            <a:r>
              <a:rPr sz="1100" dirty="0">
                <a:latin typeface="Tahoma" panose="020B0604030504040204"/>
                <a:cs typeface="Tahoma" panose="020B0604030504040204"/>
              </a:rPr>
              <a:t> to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React.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328295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updates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UI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based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API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response.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1180"/>
              </a:spcBef>
            </a:pPr>
            <a:r>
              <a:rPr sz="1100" b="1" spc="-20" dirty="0">
                <a:latin typeface="Arial" panose="020B0604020202020204"/>
                <a:cs typeface="Arial" panose="020B0604020202020204"/>
              </a:rPr>
              <a:t>Goal</a:t>
            </a:r>
            <a:r>
              <a:rPr sz="1100" b="1" dirty="0">
                <a:latin typeface="Arial" panose="020B0604020202020204"/>
                <a:cs typeface="Arial" panose="020B0604020202020204"/>
              </a:rPr>
              <a:t> of</a:t>
            </a:r>
            <a:r>
              <a:rPr sz="11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course: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Make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you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comfortable </a:t>
            </a:r>
            <a:r>
              <a:rPr sz="1100" dirty="0">
                <a:latin typeface="Tahoma" panose="020B0604030504040204"/>
                <a:cs typeface="Tahoma" panose="020B0604030504040204"/>
              </a:rPr>
              <a:t>with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every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step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this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flow.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04517"/>
            <a:ext cx="1339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Technology</a:t>
            </a:r>
            <a:r>
              <a:rPr spc="55" dirty="0"/>
              <a:t> </a:t>
            </a:r>
            <a:r>
              <a:rPr spc="40" dirty="0"/>
              <a:t>Stack</a:t>
            </a:r>
            <a:endParaRPr spc="4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9194" y="699818"/>
            <a:ext cx="3448050" cy="2427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Frontend: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2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dirty="0">
                <a:latin typeface="Tahoma" panose="020B0604030504040204"/>
                <a:cs typeface="Tahoma" panose="020B0604030504040204"/>
              </a:rPr>
              <a:t> +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modern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JavaScript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(ES6+).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2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Router,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basic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state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management.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890"/>
              </a:spcBef>
            </a:pPr>
            <a:r>
              <a:rPr sz="1100" b="1" spc="-10" dirty="0">
                <a:latin typeface="Arial" panose="020B0604020202020204"/>
                <a:cs typeface="Arial" panose="020B0604020202020204"/>
              </a:rPr>
              <a:t>Backend: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marR="43180" indent="-177165">
              <a:lnSpc>
                <a:spcPct val="103000"/>
              </a:lnSpc>
              <a:spcBef>
                <a:spcPts val="29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REST APIs with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preferred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framework</a:t>
            </a:r>
            <a:r>
              <a:rPr sz="110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per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department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guidelines.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2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JSON-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based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communication.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890"/>
              </a:spcBef>
            </a:pPr>
            <a:r>
              <a:rPr sz="1100" b="1" dirty="0">
                <a:latin typeface="Arial" panose="020B0604020202020204"/>
                <a:cs typeface="Arial" panose="020B0604020202020204"/>
              </a:rPr>
              <a:t>Other</a:t>
            </a:r>
            <a:r>
              <a:rPr sz="1100" b="1" spc="3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tools: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Git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85" dirty="0">
                <a:latin typeface="Tahoma" panose="020B0604030504040204"/>
                <a:cs typeface="Tahoma" panose="020B0604030504040204"/>
              </a:rPr>
              <a:t>&amp;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GitHub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version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control.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2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25" dirty="0">
                <a:latin typeface="Tahoma" panose="020B0604030504040204"/>
                <a:cs typeface="Tahoma" panose="020B0604030504040204"/>
              </a:rPr>
              <a:t>Postman </a:t>
            </a:r>
            <a:r>
              <a:rPr sz="1100" spc="114" dirty="0">
                <a:latin typeface="Tahoma" panose="020B0604030504040204"/>
                <a:cs typeface="Tahoma" panose="020B0604030504040204"/>
              </a:rPr>
              <a:t>/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Thunder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Client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API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testing.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2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Browser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DevTools,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basic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CI/CD</a:t>
            </a:r>
            <a:r>
              <a:rPr sz="11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exposure.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Roadmap</a:t>
            </a:r>
            <a:r>
              <a:rPr spc="85" dirty="0"/>
              <a:t> </a:t>
            </a:r>
            <a:r>
              <a:rPr dirty="0"/>
              <a:t>for</a:t>
            </a:r>
            <a:r>
              <a:rPr spc="95" dirty="0"/>
              <a:t> </a:t>
            </a:r>
            <a:r>
              <a:rPr dirty="0"/>
              <a:t>45</a:t>
            </a:r>
            <a:r>
              <a:rPr spc="90" dirty="0"/>
              <a:t> </a:t>
            </a:r>
            <a:r>
              <a:rPr spc="-10" dirty="0"/>
              <a:t>Lectures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21894" y="1005304"/>
            <a:ext cx="3887470" cy="16681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sz="1100" b="1" spc="-40" dirty="0">
                <a:latin typeface="Arial" panose="020B0604020202020204"/>
                <a:cs typeface="Arial" panose="020B0604020202020204"/>
              </a:rPr>
              <a:t>High-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level</a:t>
            </a:r>
            <a:r>
              <a:rPr sz="11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plan: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14960" marR="283845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Lectures</a:t>
            </a:r>
            <a:r>
              <a:rPr sz="110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1–7:</a:t>
            </a:r>
            <a:r>
              <a:rPr sz="1100" spc="1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Fundamentals,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architecture,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HTTP,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REST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basics.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Lectures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8–15:</a:t>
            </a:r>
            <a:r>
              <a:rPr sz="11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React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frontend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depth.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Lectures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16–22:</a:t>
            </a:r>
            <a:r>
              <a:rPr sz="1100" spc="1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Backend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services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85" dirty="0">
                <a:latin typeface="Tahoma" panose="020B0604030504040204"/>
                <a:cs typeface="Tahoma" panose="020B0604030504040204"/>
              </a:rPr>
              <a:t>&amp;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REST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APIs.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Lectures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23–28:</a:t>
            </a:r>
            <a:r>
              <a:rPr sz="1100" spc="11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Databases,</a:t>
            </a:r>
            <a:r>
              <a:rPr sz="11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ORM,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persistence.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Lectures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29–36:</a:t>
            </a:r>
            <a:r>
              <a:rPr sz="110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Security,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auth,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validation.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30" dirty="0">
                <a:latin typeface="Tahoma" panose="020B0604030504040204"/>
                <a:cs typeface="Tahoma" panose="020B0604030504040204"/>
              </a:rPr>
              <a:t>Lectures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37–45:</a:t>
            </a:r>
            <a:r>
              <a:rPr sz="110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Performance,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DevOps,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deployment,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revision.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In-Class</a:t>
            </a:r>
            <a:r>
              <a:rPr spc="114" dirty="0"/>
              <a:t> </a:t>
            </a:r>
            <a:r>
              <a:rPr spc="-10" dirty="0"/>
              <a:t>Activity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21894" y="1073122"/>
            <a:ext cx="3533775" cy="1498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sz="1100" b="1" spc="-30" dirty="0">
                <a:latin typeface="Arial" panose="020B0604020202020204"/>
                <a:cs typeface="Arial" panose="020B0604020202020204"/>
              </a:rPr>
              <a:t>Think–Pair–Share</a:t>
            </a:r>
            <a:r>
              <a:rPr sz="1100" b="1" spc="110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dirty="0">
                <a:latin typeface="Arial" panose="020B0604020202020204"/>
                <a:cs typeface="Arial" panose="020B0604020202020204"/>
              </a:rPr>
              <a:t>(5–7</a:t>
            </a:r>
            <a:r>
              <a:rPr sz="1100" b="1" spc="114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minutes):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14960" marR="304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Pick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any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website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or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app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you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daily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(e.g.,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Instagram,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Zomato,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Swiggy,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CU</a:t>
            </a:r>
            <a:r>
              <a:rPr sz="11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LMS).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Identify: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89915" lvl="1" indent="-16573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589915" algn="l"/>
              </a:tabLst>
            </a:pPr>
            <a:r>
              <a:rPr sz="1000" dirty="0">
                <a:latin typeface="Tahoma" panose="020B0604030504040204"/>
                <a:cs typeface="Tahoma" panose="020B0604030504040204"/>
              </a:rPr>
              <a:t>Two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examples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of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frontend</a:t>
            </a:r>
            <a:r>
              <a:rPr sz="10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features.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589915" lvl="1" indent="-165735">
              <a:lnSpc>
                <a:spcPts val="1195"/>
              </a:lnSpc>
              <a:buClr>
                <a:srgbClr val="3333B2"/>
              </a:buClr>
              <a:buFont typeface="Lucida Sans Unicode" panose="020B0602030504020204"/>
              <a:buChar char="►"/>
              <a:tabLst>
                <a:tab pos="589915" algn="l"/>
              </a:tabLst>
            </a:pPr>
            <a:r>
              <a:rPr sz="1000" dirty="0">
                <a:latin typeface="Tahoma" panose="020B0604030504040204"/>
                <a:cs typeface="Tahoma" panose="020B0604030504040204"/>
              </a:rPr>
              <a:t>Two </a:t>
            </a:r>
            <a:r>
              <a:rPr sz="1000" spc="-50" dirty="0">
                <a:latin typeface="Tahoma" panose="020B0604030504040204"/>
                <a:cs typeface="Tahoma" panose="020B0604030504040204"/>
              </a:rPr>
              <a:t>backend</a:t>
            </a:r>
            <a:r>
              <a:rPr sz="10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or</a:t>
            </a:r>
            <a:r>
              <a:rPr sz="1000" dirty="0">
                <a:latin typeface="Tahoma" panose="020B0604030504040204"/>
                <a:cs typeface="Tahoma" panose="020B0604030504040204"/>
              </a:rPr>
              <a:t> API</a:t>
            </a:r>
            <a:r>
              <a:rPr sz="10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features.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589915" lvl="1" indent="-165735">
              <a:lnSpc>
                <a:spcPts val="1200"/>
              </a:lnSpc>
              <a:buClr>
                <a:srgbClr val="3333B2"/>
              </a:buClr>
              <a:buFont typeface="Lucida Sans Unicode" panose="020B0602030504020204"/>
              <a:buChar char="►"/>
              <a:tabLst>
                <a:tab pos="589915" algn="l"/>
              </a:tabLst>
            </a:pPr>
            <a:r>
              <a:rPr sz="1000" spc="-20" dirty="0">
                <a:latin typeface="Tahoma" panose="020B0604030504040204"/>
                <a:cs typeface="Tahoma" panose="020B0604030504040204"/>
              </a:rPr>
              <a:t>One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piece </a:t>
            </a:r>
            <a:r>
              <a:rPr sz="1000" dirty="0">
                <a:latin typeface="Tahoma" panose="020B0604030504040204"/>
                <a:cs typeface="Tahoma" panose="020B0604030504040204"/>
              </a:rPr>
              <a:t>of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data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that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must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sz="10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35" dirty="0">
                <a:latin typeface="Tahoma" panose="020B0604030504040204"/>
                <a:cs typeface="Tahoma" panose="020B0604030504040204"/>
              </a:rPr>
              <a:t>stored </a:t>
            </a:r>
            <a:r>
              <a:rPr sz="1000" dirty="0">
                <a:latin typeface="Tahoma" panose="020B0604030504040204"/>
                <a:cs typeface="Tahoma" panose="020B0604030504040204"/>
              </a:rPr>
              <a:t>in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a</a:t>
            </a:r>
            <a:r>
              <a:rPr sz="10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10" dirty="0">
                <a:latin typeface="Tahoma" panose="020B0604030504040204"/>
                <a:cs typeface="Tahoma" panose="020B0604030504040204"/>
              </a:rPr>
              <a:t>database.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 marL="314960" indent="-177165">
              <a:lnSpc>
                <a:spcPct val="100000"/>
              </a:lnSpc>
              <a:spcBef>
                <a:spcPts val="35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14960" algn="l"/>
              </a:tabLst>
            </a:pPr>
            <a:r>
              <a:rPr sz="1100" dirty="0">
                <a:latin typeface="Tahoma" panose="020B0604030504040204"/>
                <a:cs typeface="Tahoma" panose="020B0604030504040204"/>
              </a:rPr>
              <a:t>Be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ready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to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5" dirty="0">
                <a:latin typeface="Tahoma" panose="020B0604030504040204"/>
                <a:cs typeface="Tahoma" panose="020B0604030504040204"/>
              </a:rPr>
              <a:t>share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5" dirty="0">
                <a:latin typeface="Tahoma" panose="020B0604030504040204"/>
                <a:cs typeface="Tahoma" panose="020B0604030504040204"/>
              </a:rPr>
              <a:t>how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these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three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layers</a:t>
            </a:r>
            <a:r>
              <a:rPr sz="11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interact.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Summary</a:t>
            </a:r>
            <a:r>
              <a:rPr spc="130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dirty="0"/>
              <a:t>Lecture</a:t>
            </a:r>
            <a:r>
              <a:rPr spc="130" dirty="0"/>
              <a:t> </a:t>
            </a:r>
            <a:r>
              <a:rPr spc="-60" dirty="0"/>
              <a:t>1</a:t>
            </a:r>
            <a:endParaRPr spc="-6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9194" y="1046109"/>
            <a:ext cx="3757295" cy="15659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100" b="1" spc="-25" dirty="0">
                <a:latin typeface="Arial" panose="020B0604020202020204"/>
                <a:cs typeface="Arial" panose="020B0604020202020204"/>
              </a:rPr>
              <a:t>Today </a:t>
            </a:r>
            <a:r>
              <a:rPr sz="1100" b="1" spc="-45" dirty="0">
                <a:latin typeface="Arial" panose="020B0604020202020204"/>
                <a:cs typeface="Arial" panose="020B0604020202020204"/>
              </a:rPr>
              <a:t>you</a:t>
            </a:r>
            <a:r>
              <a:rPr sz="11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learned: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35" dirty="0">
                <a:latin typeface="Tahoma" panose="020B0604030504040204"/>
                <a:cs typeface="Tahoma" panose="020B0604030504040204"/>
              </a:rPr>
              <a:t>Course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structure,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evaluation,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expectations.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Role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full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stack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developer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and 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layers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70" dirty="0">
                <a:latin typeface="Tahoma" panose="020B0604030504040204"/>
                <a:cs typeface="Tahoma" panose="020B0604030504040204"/>
              </a:rPr>
              <a:t>web</a:t>
            </a:r>
            <a:r>
              <a:rPr sz="1100" spc="-20" dirty="0">
                <a:latin typeface="Tahoma" panose="020B0604030504040204"/>
                <a:cs typeface="Tahoma" panose="020B0604030504040204"/>
              </a:rPr>
              <a:t> app.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327660" marR="43180" indent="-177165">
              <a:lnSpc>
                <a:spcPct val="103000"/>
              </a:lnSpc>
              <a:spcBef>
                <a:spcPts val="300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Basics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of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40" dirty="0">
                <a:latin typeface="Tahoma" panose="020B0604030504040204"/>
                <a:cs typeface="Tahoma" panose="020B0604030504040204"/>
              </a:rPr>
              <a:t>client–server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model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 </a:t>
            </a:r>
            <a:r>
              <a:rPr sz="1100" spc="75" dirty="0">
                <a:latin typeface="Tahoma" panose="020B0604030504040204"/>
                <a:cs typeface="Tahoma" panose="020B0604030504040204"/>
              </a:rPr>
              <a:t>HTTP</a:t>
            </a:r>
            <a:r>
              <a:rPr sz="11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60" dirty="0">
                <a:latin typeface="Tahoma" panose="020B0604030504040204"/>
                <a:cs typeface="Tahoma" panose="020B0604030504040204"/>
              </a:rPr>
              <a:t>request–response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flow.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1185"/>
              </a:spcBef>
            </a:pPr>
            <a:r>
              <a:rPr sz="1100" b="1" dirty="0">
                <a:latin typeface="Arial" panose="020B0604020202020204"/>
                <a:cs typeface="Arial" panose="020B0604020202020204"/>
              </a:rPr>
              <a:t>Next</a:t>
            </a:r>
            <a:r>
              <a:rPr sz="1100" b="1" spc="95" dirty="0">
                <a:latin typeface="Arial" panose="020B0604020202020204"/>
                <a:cs typeface="Arial" panose="020B0604020202020204"/>
              </a:rPr>
              <a:t> </a:t>
            </a:r>
            <a:r>
              <a:rPr sz="1100" b="1" spc="-10" dirty="0">
                <a:latin typeface="Arial" panose="020B0604020202020204"/>
                <a:cs typeface="Arial" panose="020B0604020202020204"/>
              </a:rPr>
              <a:t>lecture: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276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 panose="020B0602030504020204"/>
              <a:buChar char="►"/>
              <a:tabLst>
                <a:tab pos="327660" algn="l"/>
              </a:tabLst>
            </a:pPr>
            <a:r>
              <a:rPr sz="1100" spc="-40" dirty="0">
                <a:latin typeface="Tahoma" panose="020B0604030504040204"/>
                <a:cs typeface="Tahoma" panose="020B0604030504040204"/>
              </a:rPr>
              <a:t>Deeper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dive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into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HTTP,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REST,</a:t>
            </a:r>
            <a:r>
              <a:rPr sz="110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basic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API</a:t>
            </a:r>
            <a:r>
              <a:rPr sz="11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design.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80" y="867192"/>
            <a:ext cx="172593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Thank</a:t>
            </a:r>
            <a:r>
              <a:rPr sz="2450" b="1" spc="15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2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You!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/>
              <a:t>Lecture</a:t>
            </a:r>
            <a:r>
              <a:rPr spc="60" dirty="0"/>
              <a:t> </a:t>
            </a:r>
            <a:r>
              <a:rPr dirty="0"/>
              <a:t>1</a:t>
            </a:r>
            <a:r>
              <a:rPr spc="65" dirty="0"/>
              <a:t> </a:t>
            </a:r>
            <a:r>
              <a:rPr spc="-10" dirty="0"/>
              <a:t>Complete</a:t>
            </a:r>
            <a:endParaRPr spc="-10" dirty="0"/>
          </a:p>
          <a:p>
            <a:pPr marL="153670" marR="146685" indent="635" algn="ctr">
              <a:lnSpc>
                <a:spcPct val="103000"/>
              </a:lnSpc>
              <a:spcBef>
                <a:spcPts val="790"/>
              </a:spcBef>
            </a:pPr>
            <a:r>
              <a:rPr sz="1100" b="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Mr.</a:t>
            </a:r>
            <a:r>
              <a:rPr sz="1100" b="0" spc="1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b="0" spc="-1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Prince</a:t>
            </a:r>
            <a:r>
              <a:rPr sz="1100" b="0" spc="1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b="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Pal</a:t>
            </a:r>
            <a:r>
              <a:rPr sz="1100" b="0" spc="1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b="0" spc="-10" dirty="0">
                <a:solidFill>
                  <a:srgbClr val="BF0000"/>
                </a:solidFill>
                <a:latin typeface="Tahoma" panose="020B0604030504040204"/>
                <a:cs typeface="Tahoma" panose="020B0604030504040204"/>
              </a:rPr>
              <a:t>Singh </a:t>
            </a:r>
            <a:r>
              <a:rPr sz="1100" b="0" spc="-1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  <a:hlinkClick r:id="rId1"/>
              </a:rPr>
              <a:t>prince.18505@cumail.in</a:t>
            </a:r>
            <a:r>
              <a:rPr sz="1100" b="0" spc="-1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b="0" spc="-2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Assistant</a:t>
            </a:r>
            <a:r>
              <a:rPr sz="1100" b="0" spc="5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b="0" spc="-4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Professor,</a:t>
            </a:r>
            <a:r>
              <a:rPr sz="1100" b="0" spc="1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b="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AIT-</a:t>
            </a:r>
            <a:r>
              <a:rPr sz="1100" b="0" spc="-25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CSE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</a:pPr>
            <a:r>
              <a:rPr sz="1000" b="0" spc="-1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Code</a:t>
            </a:r>
            <a:r>
              <a:rPr sz="1000" b="0" spc="-35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 consistently, learn</a:t>
            </a:r>
            <a:r>
              <a:rPr sz="1000" b="0" spc="-3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00" b="0" spc="-20" dirty="0">
                <a:solidFill>
                  <a:srgbClr val="7F7F7F"/>
                </a:solidFill>
                <a:latin typeface="Tahoma" panose="020B0604030504040204"/>
                <a:cs typeface="Tahoma" panose="020B0604030504040204"/>
              </a:rPr>
              <a:t>continuously!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-8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Questions</a:t>
            </a:r>
            <a:r>
              <a:rPr sz="2450" b="1" spc="11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26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10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2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Discussion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pc="-20" dirty="0"/>
              <a:t>Page</a:t>
            </a:r>
            <a:r>
              <a:rPr spc="-25" dirty="0"/>
              <a:t> </a:t>
            </a:r>
            <a:fld id="{81D60167-4931-47E6-BA6A-407CBD079E47}" type="slidenum">
              <a:rPr spc="-20" dirty="0"/>
            </a:fld>
            <a:r>
              <a:rPr spc="-25" dirty="0"/>
              <a:t> </a:t>
            </a:r>
            <a:r>
              <a:rPr spc="105" dirty="0"/>
              <a:t>/</a:t>
            </a:r>
            <a:r>
              <a:rPr spc="-30" dirty="0"/>
              <a:t> </a:t>
            </a:r>
            <a:r>
              <a:rPr spc="-25" dirty="0"/>
              <a:t>15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0590" y="1712998"/>
            <a:ext cx="3576320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latin typeface="Calibri" panose="020F0502020204030204"/>
                <a:cs typeface="Calibri" panose="020F0502020204030204"/>
              </a:rPr>
              <a:t>Every</a:t>
            </a:r>
            <a:r>
              <a:rPr sz="1400" i="1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dirty="0">
                <a:latin typeface="Calibri" panose="020F0502020204030204"/>
                <a:cs typeface="Calibri" panose="020F0502020204030204"/>
              </a:rPr>
              <a:t>great</a:t>
            </a:r>
            <a:r>
              <a:rPr sz="1400" i="1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dirty="0">
                <a:latin typeface="Calibri" panose="020F0502020204030204"/>
                <a:cs typeface="Calibri" panose="020F0502020204030204"/>
              </a:rPr>
              <a:t>app</a:t>
            </a:r>
            <a:r>
              <a:rPr sz="1400" i="1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dirty="0">
                <a:latin typeface="Calibri" panose="020F0502020204030204"/>
                <a:cs typeface="Calibri" panose="020F0502020204030204"/>
              </a:rPr>
              <a:t>starts</a:t>
            </a:r>
            <a:r>
              <a:rPr sz="1400" i="1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dirty="0">
                <a:latin typeface="Calibri" panose="020F0502020204030204"/>
                <a:cs typeface="Calibri" panose="020F0502020204030204"/>
              </a:rPr>
              <a:t>from</a:t>
            </a:r>
            <a:r>
              <a:rPr sz="1400" i="1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dirty="0">
                <a:latin typeface="Calibri" panose="020F0502020204030204"/>
                <a:cs typeface="Calibri" panose="020F0502020204030204"/>
              </a:rPr>
              <a:t>clear</a:t>
            </a:r>
            <a:r>
              <a:rPr sz="1400" i="1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spc="-10" dirty="0">
                <a:latin typeface="Calibri" panose="020F0502020204030204"/>
                <a:cs typeface="Calibri" panose="020F0502020204030204"/>
              </a:rPr>
              <a:t>fundamentals!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0160" algn="ctr">
              <a:lnSpc>
                <a:spcPct val="100000"/>
              </a:lnSpc>
              <a:spcBef>
                <a:spcPts val="1390"/>
              </a:spcBef>
            </a:pPr>
            <a:r>
              <a:rPr sz="1100" spc="-10" dirty="0">
                <a:latin typeface="Tahoma" panose="020B0604030504040204"/>
                <a:cs typeface="Tahoma" panose="020B0604030504040204"/>
              </a:rPr>
              <a:t>Clarify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all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25" dirty="0">
                <a:latin typeface="Tahoma" panose="020B0604030504040204"/>
                <a:cs typeface="Tahoma" panose="020B0604030504040204"/>
              </a:rPr>
              <a:t>basic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35" dirty="0">
                <a:latin typeface="Tahoma" panose="020B0604030504040204"/>
                <a:cs typeface="Tahoma" panose="020B0604030504040204"/>
              </a:rPr>
              <a:t>doubts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in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sz="11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00" dirty="0">
                <a:latin typeface="Tahoma" panose="020B0604030504040204"/>
                <a:cs typeface="Tahoma" panose="020B0604030504040204"/>
              </a:rPr>
              <a:t>first</a:t>
            </a:r>
            <a:r>
              <a:rPr sz="11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00" spc="-10" dirty="0">
                <a:latin typeface="Tahoma" panose="020B0604030504040204"/>
                <a:cs typeface="Tahoma" panose="020B0604030504040204"/>
              </a:rPr>
              <a:t>week.</a:t>
            </a:r>
            <a:endParaRPr sz="11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F7F7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4735</Words>
  <Application>WPS Presentation</Application>
  <PresentationFormat>On-screen Show (4:3)</PresentationFormat>
  <Paragraphs>180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Gill Sans MT</vt:lpstr>
      <vt:lpstr>Arial</vt:lpstr>
      <vt:lpstr>Tahoma</vt:lpstr>
      <vt:lpstr>Lucida Sans Unicode</vt:lpstr>
      <vt:lpstr>Calibri</vt:lpstr>
      <vt:lpstr>Microsoft YaHei</vt:lpstr>
      <vt:lpstr>Arial Unicode MS</vt:lpstr>
      <vt:lpstr>Office Theme</vt:lpstr>
      <vt:lpstr>PowerPoint 演示文稿</vt:lpstr>
      <vt:lpstr>Lecture 1 Objectives</vt:lpstr>
      <vt:lpstr>Course Snapshot</vt:lpstr>
      <vt:lpstr>Syllabus Overview (Units)</vt:lpstr>
      <vt:lpstr>Evaluation &amp; Expectations</vt:lpstr>
      <vt:lpstr>What is Full Stack Development?</vt:lpstr>
      <vt:lpstr>Frontend, Backend &amp; Database</vt:lpstr>
      <vt:lpstr>Client–Server Architecture</vt:lpstr>
      <vt:lpstr>End-to-End Request Flow</vt:lpstr>
      <vt:lpstr>Technology Stack</vt:lpstr>
      <vt:lpstr>Roadmap for 45 Lectures</vt:lpstr>
      <vt:lpstr>In-Class Activity</vt:lpstr>
      <vt:lpstr>Summary of Lecture 1</vt:lpstr>
      <vt:lpstr>Thank You!</vt:lpstr>
      <vt:lpstr>Questions &amp; Discussion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Overview &amp; Full Stack Fundamentals</dc:title>
  <dc:creator>Mr. Prince Pal Singh (E18505)</dc:creator>
  <cp:lastModifiedBy>Prince Thind</cp:lastModifiedBy>
  <cp:revision>1</cp:revision>
  <dcterms:created xsi:type="dcterms:W3CDTF">2026-01-04T07:40:18Z</dcterms:created>
  <dcterms:modified xsi:type="dcterms:W3CDTF">2026-01-04T07:40:18Z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2025-12-22T05:30:00Z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2026-01-04T05:30:00Z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3-Heights(TM) PDF Security Shell 4.8.25.2 (http://www.pdf-tools.com)</vt:lpwstr>
  </property>
  <property fmtid="{D5CDD505-2E9C-101B-9397-08002B2CF9AE}" pid="7" name="ICV">
    <vt:lpwstr>5CE393C057FF4DAABF8C752352CBA4EE_13</vt:lpwstr>
  </property>
  <property fmtid="{D5CDD505-2E9C-101B-9397-08002B2CF9AE}" pid="8" name="KSOProductBuildVer">
    <vt:lpwstr>1033-12.2.0.23196</vt:lpwstr>
  </property>
</Properties>
</file>